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7315200" y="-1828800"/>
            <a:ext cx="5486400" cy="5486400"/>
          </a:xfrm>
          <a:prstGeom prst="ellipse">
            <a:avLst/>
          </a:prstGeom>
          <a:solidFill>
            <a:srgbClr val="7C3AED">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3657600"/>
            <a:ext cx="4572000" cy="45720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0" y="4572000"/>
            <a:ext cx="3657600" cy="3657600"/>
          </a:xfrm>
          <a:prstGeom prst="ellipse">
            <a:avLst/>
          </a:prstGeom>
          <a:solidFill>
            <a:srgbClr val="EC4899">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3200400" cy="45720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1417320"/>
            <a:ext cx="2743200" cy="365760"/>
          </a:xfrm>
          <a:prstGeom prst="rect">
            <a:avLst/>
          </a:prstGeom>
          <a:noFill/>
        </p:spPr>
        <p:txBody>
          <a:bodyPr wrap="square">
            <a:spAutoFit/>
          </a:bodyPr>
          <a:lstStyle/>
          <a:p>
            <a:pPr algn="l">
              <a:defRPr sz="1300" b="1">
                <a:solidFill>
                  <a:srgbClr val="06B6D4"/>
                </a:solidFill>
                <a:latin typeface="Segoe UI"/>
              </a:defRPr>
            </a:pPr>
            <a:r>
              <a:t>🔬  RESEARCH PROJECT</a:t>
            </a:r>
          </a:p>
        </p:txBody>
      </p:sp>
      <p:sp>
        <p:nvSpPr>
          <p:cNvPr id="8" name="TextBox 7"/>
          <p:cNvSpPr txBox="1"/>
          <p:nvPr/>
        </p:nvSpPr>
        <p:spPr>
          <a:xfrm>
            <a:off x="1371600" y="2103120"/>
            <a:ext cx="9144000" cy="1097280"/>
          </a:xfrm>
          <a:prstGeom prst="rect">
            <a:avLst/>
          </a:prstGeom>
          <a:noFill/>
        </p:spPr>
        <p:txBody>
          <a:bodyPr wrap="square">
            <a:spAutoFit/>
          </a:bodyPr>
          <a:lstStyle/>
          <a:p>
            <a:pPr algn="l">
              <a:defRPr sz="4800" b="1">
                <a:solidFill>
                  <a:srgbClr val="FFFFFF"/>
                </a:solidFill>
                <a:latin typeface="Segoe UI"/>
              </a:defRPr>
            </a:pPr>
            <a:r>
              <a:t>ARC Generalization Lab</a:t>
            </a:r>
          </a:p>
        </p:txBody>
      </p:sp>
      <p:sp>
        <p:nvSpPr>
          <p:cNvPr id="9" name="TextBox 8"/>
          <p:cNvSpPr txBox="1"/>
          <p:nvPr/>
        </p:nvSpPr>
        <p:spPr>
          <a:xfrm>
            <a:off x="1371600" y="3200400"/>
            <a:ext cx="8229600" cy="731520"/>
          </a:xfrm>
          <a:prstGeom prst="rect">
            <a:avLst/>
          </a:prstGeom>
          <a:noFill/>
        </p:spPr>
        <p:txBody>
          <a:bodyPr wrap="square">
            <a:spAutoFit/>
          </a:bodyPr>
          <a:lstStyle/>
          <a:p>
            <a:pPr algn="l">
              <a:defRPr sz="2200" b="0">
                <a:solidFill>
                  <a:srgbClr val="A0A0B8"/>
                </a:solidFill>
                <a:latin typeface="Segoe UI"/>
              </a:defRPr>
            </a:pPr>
            <a:r>
              <a:t>Does AI benchmark performance measure generalization — or familiarity?</a:t>
            </a:r>
          </a:p>
        </p:txBody>
      </p:sp>
      <p:sp>
        <p:nvSpPr>
          <p:cNvPr id="10" name="Rectangle 9"/>
          <p:cNvSpPr/>
          <p:nvPr/>
        </p:nvSpPr>
        <p:spPr>
          <a:xfrm>
            <a:off x="1371600" y="4114800"/>
            <a:ext cx="3657600" cy="36576"/>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71600" y="4572000"/>
            <a:ext cx="2743200" cy="137160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4709160"/>
            <a:ext cx="2194560" cy="457200"/>
          </a:xfrm>
          <a:prstGeom prst="rect">
            <a:avLst/>
          </a:prstGeom>
          <a:noFill/>
        </p:spPr>
        <p:txBody>
          <a:bodyPr wrap="square">
            <a:spAutoFit/>
          </a:bodyPr>
          <a:lstStyle/>
          <a:p>
            <a:pPr algn="l">
              <a:defRPr sz="1600" b="1">
                <a:solidFill>
                  <a:srgbClr val="FFFFFF"/>
                </a:solidFill>
                <a:latin typeface="Segoe UI"/>
              </a:defRPr>
            </a:pPr>
            <a:r>
              <a:t>🌐  Live Demo</a:t>
            </a:r>
          </a:p>
        </p:txBody>
      </p:sp>
      <p:sp>
        <p:nvSpPr>
          <p:cNvPr id="13" name="TextBox 12"/>
          <p:cNvSpPr txBox="1"/>
          <p:nvPr/>
        </p:nvSpPr>
        <p:spPr>
          <a:xfrm>
            <a:off x="1645920" y="5166360"/>
            <a:ext cx="2194560" cy="548640"/>
          </a:xfrm>
          <a:prstGeom prst="rect">
            <a:avLst/>
          </a:prstGeom>
          <a:noFill/>
        </p:spPr>
        <p:txBody>
          <a:bodyPr wrap="square">
            <a:spAutoFit/>
          </a:bodyPr>
          <a:lstStyle/>
          <a:p>
            <a:pPr algn="l">
              <a:defRPr sz="1200" b="0">
                <a:solidFill>
                  <a:srgbClr val="A0A0B8"/>
                </a:solidFill>
                <a:latin typeface="Segoe UI"/>
              </a:defRPr>
            </a:pPr>
            <a:r>
              <a:t>famous-sable-446bd6.netlify.app</a:t>
            </a:r>
          </a:p>
        </p:txBody>
      </p:sp>
      <p:sp>
        <p:nvSpPr>
          <p:cNvPr id="14" name="Rounded Rectangle 13"/>
          <p:cNvSpPr/>
          <p:nvPr/>
        </p:nvSpPr>
        <p:spPr>
          <a:xfrm>
            <a:off x="4572000" y="4572000"/>
            <a:ext cx="2743200" cy="137160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4709160"/>
            <a:ext cx="2194560" cy="457200"/>
          </a:xfrm>
          <a:prstGeom prst="rect">
            <a:avLst/>
          </a:prstGeom>
          <a:noFill/>
        </p:spPr>
        <p:txBody>
          <a:bodyPr wrap="square">
            <a:spAutoFit/>
          </a:bodyPr>
          <a:lstStyle/>
          <a:p>
            <a:pPr algn="l">
              <a:defRPr sz="1600" b="1">
                <a:solidFill>
                  <a:srgbClr val="FFFFFF"/>
                </a:solidFill>
                <a:latin typeface="Segoe UI"/>
              </a:defRPr>
            </a:pPr>
            <a:r>
              <a:t>📦  Open Source</a:t>
            </a:r>
          </a:p>
        </p:txBody>
      </p:sp>
      <p:sp>
        <p:nvSpPr>
          <p:cNvPr id="16" name="TextBox 15"/>
          <p:cNvSpPr txBox="1"/>
          <p:nvPr/>
        </p:nvSpPr>
        <p:spPr>
          <a:xfrm>
            <a:off x="4846320" y="5166360"/>
            <a:ext cx="2194560" cy="548640"/>
          </a:xfrm>
          <a:prstGeom prst="rect">
            <a:avLst/>
          </a:prstGeom>
          <a:noFill/>
        </p:spPr>
        <p:txBody>
          <a:bodyPr wrap="square">
            <a:spAutoFit/>
          </a:bodyPr>
          <a:lstStyle/>
          <a:p>
            <a:pPr algn="l">
              <a:defRPr sz="1200" b="0">
                <a:solidFill>
                  <a:srgbClr val="A0A0B8"/>
                </a:solidFill>
                <a:latin typeface="Segoe UI"/>
              </a:defRPr>
            </a:pPr>
            <a:r>
              <a:t>github.com/Astha167</a:t>
            </a:r>
          </a:p>
        </p:txBody>
      </p:sp>
      <p:sp>
        <p:nvSpPr>
          <p:cNvPr id="17" name="Rounded Rectangle 16"/>
          <p:cNvSpPr/>
          <p:nvPr/>
        </p:nvSpPr>
        <p:spPr>
          <a:xfrm>
            <a:off x="7772400" y="4572000"/>
            <a:ext cx="2743200" cy="137160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4709160"/>
            <a:ext cx="2194560" cy="457200"/>
          </a:xfrm>
          <a:prstGeom prst="rect">
            <a:avLst/>
          </a:prstGeom>
          <a:noFill/>
        </p:spPr>
        <p:txBody>
          <a:bodyPr wrap="square">
            <a:spAutoFit/>
          </a:bodyPr>
          <a:lstStyle/>
          <a:p>
            <a:pPr algn="l">
              <a:defRPr sz="1600" b="1">
                <a:solidFill>
                  <a:srgbClr val="FFFFFF"/>
                </a:solidFill>
                <a:latin typeface="Segoe UI"/>
              </a:defRPr>
            </a:pPr>
            <a:r>
              <a:t>📄  MIT License</a:t>
            </a:r>
          </a:p>
        </p:txBody>
      </p:sp>
      <p:sp>
        <p:nvSpPr>
          <p:cNvPr id="19" name="TextBox 18"/>
          <p:cNvSpPr txBox="1"/>
          <p:nvPr/>
        </p:nvSpPr>
        <p:spPr>
          <a:xfrm>
            <a:off x="8046720" y="5166360"/>
            <a:ext cx="2194560" cy="548640"/>
          </a:xfrm>
          <a:prstGeom prst="rect">
            <a:avLst/>
          </a:prstGeom>
          <a:noFill/>
        </p:spPr>
        <p:txBody>
          <a:bodyPr wrap="square">
            <a:spAutoFit/>
          </a:bodyPr>
          <a:lstStyle/>
          <a:p>
            <a:pPr algn="l">
              <a:defRPr sz="1200" b="0">
                <a:solidFill>
                  <a:srgbClr val="A0A0B8"/>
                </a:solidFill>
                <a:latin typeface="Segoe UI"/>
              </a:defRPr>
            </a:pPr>
            <a:r>
              <a:t>Fully reproducible</a:t>
            </a:r>
          </a:p>
        </p:txBody>
      </p:sp>
      <p:sp>
        <p:nvSpPr>
          <p:cNvPr id="20" name="Rectangle 19"/>
          <p:cNvSpPr/>
          <p:nvPr/>
        </p:nvSpPr>
        <p:spPr>
          <a:xfrm>
            <a:off x="0" y="6675120"/>
            <a:ext cx="12191695" cy="54864"/>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9601200" y="-1371600"/>
            <a:ext cx="3657600" cy="3657600"/>
          </a:xfrm>
          <a:prstGeom prst="ellipse">
            <a:avLst/>
          </a:prstGeom>
          <a:solidFill>
            <a:srgbClr val="7C3A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5029200"/>
            <a:ext cx="3200400" cy="32004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45720"/>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828800" cy="1371600"/>
          </a:xfrm>
          <a:prstGeom prst="rect">
            <a:avLst/>
          </a:prstGeom>
          <a:noFill/>
        </p:spPr>
        <p:txBody>
          <a:bodyPr wrap="square">
            <a:spAutoFit/>
          </a:bodyPr>
          <a:lstStyle/>
          <a:p>
            <a:pPr algn="l">
              <a:defRPr sz="7200" b="1">
                <a:solidFill>
                  <a:srgbClr val="7C3AED"/>
                </a:solidFill>
                <a:latin typeface="Segoe UI"/>
              </a:defRPr>
            </a:pPr>
            <a:r>
              <a:t>01</a:t>
            </a:r>
          </a:p>
        </p:txBody>
      </p:sp>
      <p:sp>
        <p:nvSpPr>
          <p:cNvPr id="6" name="TextBox 5"/>
          <p:cNvSpPr txBox="1"/>
          <p:nvPr/>
        </p:nvSpPr>
        <p:spPr>
          <a:xfrm>
            <a:off x="1097280" y="548640"/>
            <a:ext cx="4572000" cy="457200"/>
          </a:xfrm>
          <a:prstGeom prst="rect">
            <a:avLst/>
          </a:prstGeom>
          <a:noFill/>
        </p:spPr>
        <p:txBody>
          <a:bodyPr wrap="square">
            <a:spAutoFit/>
          </a:bodyPr>
          <a:lstStyle/>
          <a:p>
            <a:pPr algn="l">
              <a:defRPr sz="1300" b="1">
                <a:solidFill>
                  <a:srgbClr val="06B6D4"/>
                </a:solidFill>
                <a:latin typeface="Segoe UI"/>
              </a:defRPr>
            </a:pPr>
            <a:r>
              <a:t>RESEARCH QUESTION</a:t>
            </a:r>
          </a:p>
        </p:txBody>
      </p:sp>
      <p:sp>
        <p:nvSpPr>
          <p:cNvPr id="7" name="TextBox 6"/>
          <p:cNvSpPr txBox="1"/>
          <p:nvPr/>
        </p:nvSpPr>
        <p:spPr>
          <a:xfrm>
            <a:off x="1097280" y="1005840"/>
            <a:ext cx="9144000" cy="731520"/>
          </a:xfrm>
          <a:prstGeom prst="rect">
            <a:avLst/>
          </a:prstGeom>
          <a:noFill/>
        </p:spPr>
        <p:txBody>
          <a:bodyPr wrap="square">
            <a:spAutoFit/>
          </a:bodyPr>
          <a:lstStyle/>
          <a:p>
            <a:pPr algn="l">
              <a:defRPr sz="3600" b="1">
                <a:solidFill>
                  <a:srgbClr val="FFFFFF"/>
                </a:solidFill>
                <a:latin typeface="Segoe UI"/>
              </a:defRPr>
            </a:pPr>
            <a:r>
              <a:t>The Core Question</a:t>
            </a:r>
          </a:p>
        </p:txBody>
      </p:sp>
      <p:sp>
        <p:nvSpPr>
          <p:cNvPr id="8" name="Rounded Rectangle 7"/>
          <p:cNvSpPr/>
          <p:nvPr/>
        </p:nvSpPr>
        <p:spPr>
          <a:xfrm>
            <a:off x="1097280" y="1920240"/>
            <a:ext cx="10058400" cy="14630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1920240"/>
            <a:ext cx="54864" cy="1463040"/>
          </a:xfrm>
          <a:prstGeom prst="rect">
            <a:avLst/>
          </a:prstGeom>
          <a:gradFill rotWithShape="1">
            <a:gsLst>
              <a:gs pos="0">
                <a:srgbClr val="7C3AED"/>
              </a:gs>
              <a:gs pos="100000">
                <a:srgbClr val="EC4899"/>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2103120"/>
            <a:ext cx="9144000" cy="1097280"/>
          </a:xfrm>
          <a:prstGeom prst="rect">
            <a:avLst/>
          </a:prstGeom>
          <a:noFill/>
        </p:spPr>
        <p:txBody>
          <a:bodyPr wrap="square">
            <a:spAutoFit/>
          </a:bodyPr>
          <a:lstStyle/>
          <a:p>
            <a:pPr algn="l">
              <a:defRPr sz="1800" b="0">
                <a:solidFill>
                  <a:srgbClr val="A0A0B8"/>
                </a:solidFill>
                <a:latin typeface="Segoe UI"/>
              </a:defRPr>
            </a:pPr>
            <a:r>
              <a:t>"If we take the same solver and evaluate it on both public ARC tasks (which may appear in training data) and fresh tasks (which cannot), does the performance change? And if so, what does the gap actually tell us?"</a:t>
            </a:r>
          </a:p>
        </p:txBody>
      </p:sp>
      <p:sp>
        <p:nvSpPr>
          <p:cNvPr id="11" name="TextBox 10"/>
          <p:cNvSpPr txBox="1"/>
          <p:nvPr/>
        </p:nvSpPr>
        <p:spPr>
          <a:xfrm>
            <a:off x="1097280" y="3749039"/>
            <a:ext cx="4572000" cy="457200"/>
          </a:xfrm>
          <a:prstGeom prst="rect">
            <a:avLst/>
          </a:prstGeom>
          <a:noFill/>
        </p:spPr>
        <p:txBody>
          <a:bodyPr wrap="square">
            <a:spAutoFit/>
          </a:bodyPr>
          <a:lstStyle/>
          <a:p>
            <a:pPr algn="l">
              <a:defRPr sz="1300" b="1">
                <a:solidFill>
                  <a:srgbClr val="EC4899"/>
                </a:solidFill>
                <a:latin typeface="Segoe UI"/>
              </a:defRPr>
            </a:pPr>
            <a:r>
              <a:t>CENTRAL CLAIM</a:t>
            </a:r>
          </a:p>
        </p:txBody>
      </p:sp>
      <p:sp>
        <p:nvSpPr>
          <p:cNvPr id="12" name="Rounded Rectangle 11"/>
          <p:cNvSpPr/>
          <p:nvPr/>
        </p:nvSpPr>
        <p:spPr>
          <a:xfrm>
            <a:off x="1097280" y="4206240"/>
            <a:ext cx="10058400" cy="201168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4206240"/>
            <a:ext cx="54864" cy="2011680"/>
          </a:xfrm>
          <a:prstGeom prst="rect">
            <a:avLst/>
          </a:prstGeom>
          <a:gradFill rotWithShape="1">
            <a:gsLst>
              <a:gs pos="0">
                <a:srgbClr val="EC4899"/>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4297680"/>
            <a:ext cx="9144000" cy="1828800"/>
          </a:xfrm>
          <a:prstGeom prst="rect">
            <a:avLst/>
          </a:prstGeom>
          <a:noFill/>
        </p:spPr>
        <p:txBody>
          <a:bodyPr wrap="square">
            <a:spAutoFit/>
          </a:bodyPr>
          <a:lstStyle/>
          <a:p>
            <a:pPr>
              <a:spcAft>
                <a:spcPts val="800"/>
              </a:spcAft>
            </a:pPr>
            <a:r>
              <a:rPr sz="1500" b="1">
                <a:solidFill>
                  <a:srgbClr val="EC4899"/>
                </a:solidFill>
                <a:latin typeface="Segoe UI"/>
              </a:rPr>
              <a:t>▸ </a:t>
            </a:r>
            <a:r>
              <a:rPr sz="1500">
                <a:solidFill>
                  <a:srgbClr val="A0A0B8"/>
                </a:solidFill>
                <a:latin typeface="Segoe UI"/>
              </a:rPr>
              <a:t>Performance on public ARC-AGI-1 evaluation tasks can differ from performance on freshly generated, distribution-matched tasks</a:t>
            </a:r>
          </a:p>
          <a:p>
            <a:pPr>
              <a:spcAft>
                <a:spcPts val="800"/>
              </a:spcAft>
            </a:pPr>
            <a:r>
              <a:rPr sz="1500" b="1">
                <a:solidFill>
                  <a:srgbClr val="EC4899"/>
                </a:solidFill>
                <a:latin typeface="Segoe UI"/>
              </a:rPr>
              <a:t>▸ </a:t>
            </a:r>
            <a:r>
              <a:rPr sz="1500">
                <a:solidFill>
                  <a:srgbClr val="A0A0B8"/>
                </a:solidFill>
                <a:latin typeface="Segoe UI"/>
              </a:rPr>
              <a:t>This gap provides a diagnostic signal about benchmark familiarity vs. genuine rule-induction</a:t>
            </a:r>
          </a:p>
          <a:p>
            <a:pPr>
              <a:spcAft>
                <a:spcPts val="800"/>
              </a:spcAft>
            </a:pPr>
            <a:r>
              <a:rPr sz="1500" b="1">
                <a:solidFill>
                  <a:srgbClr val="EC4899"/>
                </a:solidFill>
                <a:latin typeface="Segoe UI"/>
              </a:rPr>
              <a:t>▸ </a:t>
            </a:r>
            <a:r>
              <a:rPr sz="1500">
                <a:solidFill>
                  <a:srgbClr val="A0A0B8"/>
                </a:solidFill>
                <a:latin typeface="Segoe UI"/>
              </a:rPr>
              <a:t>A performance gap does NOT prove memorization — multiple explanations exist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9601200" y="-1371600"/>
            <a:ext cx="3657600" cy="3657600"/>
          </a:xfrm>
          <a:prstGeom prst="ellipse">
            <a:avLst/>
          </a:prstGeom>
          <a:solidFill>
            <a:srgbClr val="7C3A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5029200"/>
            <a:ext cx="3200400" cy="32004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45720"/>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828800" cy="1371600"/>
          </a:xfrm>
          <a:prstGeom prst="rect">
            <a:avLst/>
          </a:prstGeom>
          <a:noFill/>
        </p:spPr>
        <p:txBody>
          <a:bodyPr wrap="square">
            <a:spAutoFit/>
          </a:bodyPr>
          <a:lstStyle/>
          <a:p>
            <a:pPr algn="l">
              <a:defRPr sz="7200" b="1">
                <a:solidFill>
                  <a:srgbClr val="7C3AED"/>
                </a:solidFill>
                <a:latin typeface="Segoe UI"/>
              </a:defRPr>
            </a:pPr>
            <a:r>
              <a:t>02</a:t>
            </a:r>
          </a:p>
        </p:txBody>
      </p:sp>
      <p:sp>
        <p:nvSpPr>
          <p:cNvPr id="6" name="TextBox 5"/>
          <p:cNvSpPr txBox="1"/>
          <p:nvPr/>
        </p:nvSpPr>
        <p:spPr>
          <a:xfrm>
            <a:off x="1097280" y="548640"/>
            <a:ext cx="4572000" cy="457200"/>
          </a:xfrm>
          <a:prstGeom prst="rect">
            <a:avLst/>
          </a:prstGeom>
          <a:noFill/>
        </p:spPr>
        <p:txBody>
          <a:bodyPr wrap="square">
            <a:spAutoFit/>
          </a:bodyPr>
          <a:lstStyle/>
          <a:p>
            <a:pPr algn="l">
              <a:defRPr sz="1300" b="1">
                <a:solidFill>
                  <a:srgbClr val="06B6D4"/>
                </a:solidFill>
                <a:latin typeface="Segoe UI"/>
              </a:defRPr>
            </a:pPr>
            <a:r>
              <a:t>ARCHITECTURE</a:t>
            </a:r>
          </a:p>
        </p:txBody>
      </p:sp>
      <p:sp>
        <p:nvSpPr>
          <p:cNvPr id="7" name="TextBox 6"/>
          <p:cNvSpPr txBox="1"/>
          <p:nvPr/>
        </p:nvSpPr>
        <p:spPr>
          <a:xfrm>
            <a:off x="1097280" y="1005840"/>
            <a:ext cx="9144000" cy="731520"/>
          </a:xfrm>
          <a:prstGeom prst="rect">
            <a:avLst/>
          </a:prstGeom>
          <a:noFill/>
        </p:spPr>
        <p:txBody>
          <a:bodyPr wrap="square">
            <a:spAutoFit/>
          </a:bodyPr>
          <a:lstStyle/>
          <a:p>
            <a:pPr algn="l">
              <a:defRPr sz="3600" b="1">
                <a:solidFill>
                  <a:srgbClr val="FFFFFF"/>
                </a:solidFill>
                <a:latin typeface="Segoe UI"/>
              </a:defRPr>
            </a:pPr>
            <a:r>
              <a:t>System Architecture &amp; Tech Stack</a:t>
            </a:r>
          </a:p>
        </p:txBody>
      </p:sp>
      <p:sp>
        <p:nvSpPr>
          <p:cNvPr id="8" name="Rounded Rectangle 7"/>
          <p:cNvSpPr/>
          <p:nvPr/>
        </p:nvSpPr>
        <p:spPr>
          <a:xfrm>
            <a:off x="1097280" y="2011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80160" y="2121408"/>
            <a:ext cx="1371600" cy="36576"/>
          </a:xfrm>
          <a:prstGeom prst="rect">
            <a:avLst/>
          </a:prstGeom>
          <a:gradFill rotWithShape="1">
            <a:gsLst>
              <a:gs pos="0">
                <a:srgbClr val="06B6D4"/>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286000"/>
            <a:ext cx="2560320" cy="365760"/>
          </a:xfrm>
          <a:prstGeom prst="rect">
            <a:avLst/>
          </a:prstGeom>
          <a:noFill/>
        </p:spPr>
        <p:txBody>
          <a:bodyPr wrap="square">
            <a:spAutoFit/>
          </a:bodyPr>
          <a:lstStyle/>
          <a:p>
            <a:pPr algn="l">
              <a:defRPr sz="1800" b="1">
                <a:solidFill>
                  <a:srgbClr val="FFFFFF"/>
                </a:solidFill>
                <a:latin typeface="Segoe UI"/>
              </a:defRPr>
            </a:pPr>
            <a:r>
              <a:t>🖥️  Frontend</a:t>
            </a:r>
          </a:p>
        </p:txBody>
      </p:sp>
      <p:sp>
        <p:nvSpPr>
          <p:cNvPr id="11" name="TextBox 10"/>
          <p:cNvSpPr txBox="1"/>
          <p:nvPr/>
        </p:nvSpPr>
        <p:spPr>
          <a:xfrm>
            <a:off x="1371600" y="2697480"/>
            <a:ext cx="2560320" cy="320040"/>
          </a:xfrm>
          <a:prstGeom prst="rect">
            <a:avLst/>
          </a:prstGeom>
          <a:noFill/>
        </p:spPr>
        <p:txBody>
          <a:bodyPr wrap="square">
            <a:spAutoFit/>
          </a:bodyPr>
          <a:lstStyle/>
          <a:p>
            <a:pPr algn="l">
              <a:defRPr sz="1300" b="1">
                <a:solidFill>
                  <a:srgbClr val="06B6D4"/>
                </a:solidFill>
                <a:latin typeface="Segoe UI"/>
              </a:defRPr>
            </a:pPr>
            <a:r>
              <a:t>Vite + Vanilla JS</a:t>
            </a:r>
          </a:p>
        </p:txBody>
      </p:sp>
      <p:sp>
        <p:nvSpPr>
          <p:cNvPr id="12" name="TextBox 11"/>
          <p:cNvSpPr txBox="1"/>
          <p:nvPr/>
        </p:nvSpPr>
        <p:spPr>
          <a:xfrm>
            <a:off x="1371600" y="3063240"/>
            <a:ext cx="2560320" cy="731520"/>
          </a:xfrm>
          <a:prstGeom prst="rect">
            <a:avLst/>
          </a:prstGeom>
          <a:noFill/>
        </p:spPr>
        <p:txBody>
          <a:bodyPr wrap="square">
            <a:spAutoFit/>
          </a:bodyPr>
          <a:lstStyle/>
          <a:p>
            <a:pPr algn="l">
              <a:defRPr sz="1200" b="0">
                <a:solidFill>
                  <a:srgbClr val="A0A0B8"/>
                </a:solidFill>
                <a:latin typeface="Segoe UI"/>
              </a:defRPr>
            </a:pPr>
            <a:r>
              <a:t>Interactive ARC grid visualization,</a:t>
            </a:r>
            <a:br/>
            <a:r>
              <a:t>experiment lab, guided learner journey</a:t>
            </a:r>
          </a:p>
        </p:txBody>
      </p:sp>
      <p:sp>
        <p:nvSpPr>
          <p:cNvPr id="13" name="Rounded Rectangle 12"/>
          <p:cNvSpPr/>
          <p:nvPr/>
        </p:nvSpPr>
        <p:spPr>
          <a:xfrm>
            <a:off x="4572000" y="2011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2121408"/>
            <a:ext cx="1371600" cy="36576"/>
          </a:xfrm>
          <a:prstGeom prst="rect">
            <a:avLst/>
          </a:prstGeom>
          <a:gradFill rotWithShape="1">
            <a:gsLst>
              <a:gs pos="0">
                <a:srgbClr val="7C3AED"/>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2286000"/>
            <a:ext cx="2560320" cy="365760"/>
          </a:xfrm>
          <a:prstGeom prst="rect">
            <a:avLst/>
          </a:prstGeom>
          <a:noFill/>
        </p:spPr>
        <p:txBody>
          <a:bodyPr wrap="square">
            <a:spAutoFit/>
          </a:bodyPr>
          <a:lstStyle/>
          <a:p>
            <a:pPr algn="l">
              <a:defRPr sz="1800" b="1">
                <a:solidFill>
                  <a:srgbClr val="FFFFFF"/>
                </a:solidFill>
                <a:latin typeface="Segoe UI"/>
              </a:defRPr>
            </a:pPr>
            <a:r>
              <a:t>⚙️  Backend</a:t>
            </a:r>
          </a:p>
        </p:txBody>
      </p:sp>
      <p:sp>
        <p:nvSpPr>
          <p:cNvPr id="16" name="TextBox 15"/>
          <p:cNvSpPr txBox="1"/>
          <p:nvPr/>
        </p:nvSpPr>
        <p:spPr>
          <a:xfrm>
            <a:off x="4846320" y="2697480"/>
            <a:ext cx="2560320" cy="320040"/>
          </a:xfrm>
          <a:prstGeom prst="rect">
            <a:avLst/>
          </a:prstGeom>
          <a:noFill/>
        </p:spPr>
        <p:txBody>
          <a:bodyPr wrap="square">
            <a:spAutoFit/>
          </a:bodyPr>
          <a:lstStyle/>
          <a:p>
            <a:pPr algn="l">
              <a:defRPr sz="1300" b="1">
                <a:solidFill>
                  <a:srgbClr val="7C3AED"/>
                </a:solidFill>
                <a:latin typeface="Segoe UI"/>
              </a:defRPr>
            </a:pPr>
            <a:r>
              <a:t>FastAPI (Python)</a:t>
            </a:r>
          </a:p>
        </p:txBody>
      </p:sp>
      <p:sp>
        <p:nvSpPr>
          <p:cNvPr id="17" name="TextBox 16"/>
          <p:cNvSpPr txBox="1"/>
          <p:nvPr/>
        </p:nvSpPr>
        <p:spPr>
          <a:xfrm>
            <a:off x="4846320" y="3063240"/>
            <a:ext cx="2560320" cy="731520"/>
          </a:xfrm>
          <a:prstGeom prst="rect">
            <a:avLst/>
          </a:prstGeom>
          <a:noFill/>
        </p:spPr>
        <p:txBody>
          <a:bodyPr wrap="square">
            <a:spAutoFit/>
          </a:bodyPr>
          <a:lstStyle/>
          <a:p>
            <a:pPr algn="l">
              <a:defRPr sz="1200" b="0">
                <a:solidFill>
                  <a:srgbClr val="A0A0B8"/>
                </a:solidFill>
                <a:latin typeface="Segoe UI"/>
              </a:defRPr>
            </a:pPr>
            <a:r>
              <a:t>Task serving, solver execution,</a:t>
            </a:r>
            <a:br/>
            <a:r>
              <a:t>evaluation pipeline</a:t>
            </a:r>
          </a:p>
        </p:txBody>
      </p:sp>
      <p:sp>
        <p:nvSpPr>
          <p:cNvPr id="18" name="Rounded Rectangle 17"/>
          <p:cNvSpPr/>
          <p:nvPr/>
        </p:nvSpPr>
        <p:spPr>
          <a:xfrm>
            <a:off x="8046719" y="2011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599" y="2121408"/>
            <a:ext cx="1371600" cy="36576"/>
          </a:xfrm>
          <a:prstGeom prst="rect">
            <a:avLst/>
          </a:prstGeom>
          <a:gradFill rotWithShape="1">
            <a:gsLst>
              <a:gs pos="0">
                <a:srgbClr val="EC4899"/>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9" y="2286000"/>
            <a:ext cx="2560320" cy="365760"/>
          </a:xfrm>
          <a:prstGeom prst="rect">
            <a:avLst/>
          </a:prstGeom>
          <a:noFill/>
        </p:spPr>
        <p:txBody>
          <a:bodyPr wrap="square">
            <a:spAutoFit/>
          </a:bodyPr>
          <a:lstStyle/>
          <a:p>
            <a:pPr algn="l">
              <a:defRPr sz="1800" b="1">
                <a:solidFill>
                  <a:srgbClr val="FFFFFF"/>
                </a:solidFill>
                <a:latin typeface="Segoe UI"/>
              </a:defRPr>
            </a:pPr>
            <a:r>
              <a:t>🧩  Task Generator</a:t>
            </a:r>
          </a:p>
        </p:txBody>
      </p:sp>
      <p:sp>
        <p:nvSpPr>
          <p:cNvPr id="21" name="TextBox 20"/>
          <p:cNvSpPr txBox="1"/>
          <p:nvPr/>
        </p:nvSpPr>
        <p:spPr>
          <a:xfrm>
            <a:off x="8321039" y="2697480"/>
            <a:ext cx="2560320" cy="320040"/>
          </a:xfrm>
          <a:prstGeom prst="rect">
            <a:avLst/>
          </a:prstGeom>
          <a:noFill/>
        </p:spPr>
        <p:txBody>
          <a:bodyPr wrap="square">
            <a:spAutoFit/>
          </a:bodyPr>
          <a:lstStyle/>
          <a:p>
            <a:pPr algn="l">
              <a:defRPr sz="1300" b="1">
                <a:solidFill>
                  <a:srgbClr val="EC4899"/>
                </a:solidFill>
                <a:latin typeface="Segoe UI"/>
              </a:defRPr>
            </a:pPr>
            <a:r>
              <a:t>arc-task-gen (MIT)</a:t>
            </a:r>
          </a:p>
        </p:txBody>
      </p:sp>
      <p:sp>
        <p:nvSpPr>
          <p:cNvPr id="22" name="TextBox 21"/>
          <p:cNvSpPr txBox="1"/>
          <p:nvPr/>
        </p:nvSpPr>
        <p:spPr>
          <a:xfrm>
            <a:off x="8321039" y="3063240"/>
            <a:ext cx="2560320" cy="731520"/>
          </a:xfrm>
          <a:prstGeom prst="rect">
            <a:avLst/>
          </a:prstGeom>
          <a:noFill/>
        </p:spPr>
        <p:txBody>
          <a:bodyPr wrap="square">
            <a:spAutoFit/>
          </a:bodyPr>
          <a:lstStyle/>
          <a:p>
            <a:pPr algn="l">
              <a:defRPr sz="1200" b="0">
                <a:solidFill>
                  <a:srgbClr val="A0A0B8"/>
                </a:solidFill>
                <a:latin typeface="Segoe UI"/>
              </a:defRPr>
            </a:pPr>
            <a:r>
              <a:t>Distribution-matched ARC-style</a:t>
            </a:r>
            <a:br/>
            <a:r>
              <a:t>task generation pipeline</a:t>
            </a:r>
          </a:p>
        </p:txBody>
      </p:sp>
      <p:sp>
        <p:nvSpPr>
          <p:cNvPr id="23" name="Rounded Rectangle 22"/>
          <p:cNvSpPr/>
          <p:nvPr/>
        </p:nvSpPr>
        <p:spPr>
          <a:xfrm>
            <a:off x="1097280" y="4297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0160" y="4407408"/>
            <a:ext cx="1371600" cy="36576"/>
          </a:xfrm>
          <a:prstGeom prst="rect">
            <a:avLst/>
          </a:prstGeom>
          <a:gradFill rotWithShape="1">
            <a:gsLst>
              <a:gs pos="0">
                <a:srgbClr val="10B981"/>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0" y="4572000"/>
            <a:ext cx="2560320" cy="365760"/>
          </a:xfrm>
          <a:prstGeom prst="rect">
            <a:avLst/>
          </a:prstGeom>
          <a:noFill/>
        </p:spPr>
        <p:txBody>
          <a:bodyPr wrap="square">
            <a:spAutoFit/>
          </a:bodyPr>
          <a:lstStyle/>
          <a:p>
            <a:pPr algn="l">
              <a:defRPr sz="1800" b="1">
                <a:solidFill>
                  <a:srgbClr val="FFFFFF"/>
                </a:solidFill>
                <a:latin typeface="Segoe UI"/>
              </a:defRPr>
            </a:pPr>
            <a:r>
              <a:t>📊  Data Layer</a:t>
            </a:r>
          </a:p>
        </p:txBody>
      </p:sp>
      <p:sp>
        <p:nvSpPr>
          <p:cNvPr id="26" name="TextBox 25"/>
          <p:cNvSpPr txBox="1"/>
          <p:nvPr/>
        </p:nvSpPr>
        <p:spPr>
          <a:xfrm>
            <a:off x="1371600" y="4983480"/>
            <a:ext cx="2560320" cy="320040"/>
          </a:xfrm>
          <a:prstGeom prst="rect">
            <a:avLst/>
          </a:prstGeom>
          <a:noFill/>
        </p:spPr>
        <p:txBody>
          <a:bodyPr wrap="square">
            <a:spAutoFit/>
          </a:bodyPr>
          <a:lstStyle/>
          <a:p>
            <a:pPr algn="l">
              <a:defRPr sz="1300" b="1">
                <a:solidFill>
                  <a:srgbClr val="10B981"/>
                </a:solidFill>
                <a:latin typeface="Segoe UI"/>
              </a:defRPr>
            </a:pPr>
            <a:r>
              <a:t>Three Modes</a:t>
            </a:r>
          </a:p>
        </p:txBody>
      </p:sp>
      <p:sp>
        <p:nvSpPr>
          <p:cNvPr id="27" name="TextBox 26"/>
          <p:cNvSpPr txBox="1"/>
          <p:nvPr/>
        </p:nvSpPr>
        <p:spPr>
          <a:xfrm>
            <a:off x="1371600" y="5349240"/>
            <a:ext cx="2560320" cy="731520"/>
          </a:xfrm>
          <a:prstGeom prst="rect">
            <a:avLst/>
          </a:prstGeom>
          <a:noFill/>
        </p:spPr>
        <p:txBody>
          <a:bodyPr wrap="square">
            <a:spAutoFit/>
          </a:bodyPr>
          <a:lstStyle/>
          <a:p>
            <a:pPr algn="l">
              <a:defRPr sz="1200" b="0">
                <a:solidFill>
                  <a:srgbClr val="A0A0B8"/>
                </a:solidFill>
                <a:latin typeface="Segoe UI"/>
              </a:defRPr>
            </a:pPr>
            <a:r>
              <a:t>Demo data, Public ARC-AGI-1,</a:t>
            </a:r>
            <a:br/>
            <a:r>
              <a:t>Live generated tasks</a:t>
            </a:r>
          </a:p>
        </p:txBody>
      </p:sp>
      <p:sp>
        <p:nvSpPr>
          <p:cNvPr id="28" name="Rounded Rectangle 27"/>
          <p:cNvSpPr/>
          <p:nvPr/>
        </p:nvSpPr>
        <p:spPr>
          <a:xfrm>
            <a:off x="4572000" y="4297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0" y="4407408"/>
            <a:ext cx="1371600" cy="36576"/>
          </a:xfrm>
          <a:prstGeom prst="rect">
            <a:avLst/>
          </a:prstGeom>
          <a:gradFill rotWithShape="1">
            <a:gsLst>
              <a:gs pos="0">
                <a:srgbClr val="F59E0B"/>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0" y="4572000"/>
            <a:ext cx="2560320" cy="365760"/>
          </a:xfrm>
          <a:prstGeom prst="rect">
            <a:avLst/>
          </a:prstGeom>
          <a:noFill/>
        </p:spPr>
        <p:txBody>
          <a:bodyPr wrap="square">
            <a:spAutoFit/>
          </a:bodyPr>
          <a:lstStyle/>
          <a:p>
            <a:pPr algn="l">
              <a:defRPr sz="1800" b="1">
                <a:solidFill>
                  <a:srgbClr val="FFFFFF"/>
                </a:solidFill>
                <a:latin typeface="Segoe UI"/>
              </a:defRPr>
            </a:pPr>
            <a:r>
              <a:t>🧪  Experiments</a:t>
            </a:r>
          </a:p>
        </p:txBody>
      </p:sp>
      <p:sp>
        <p:nvSpPr>
          <p:cNvPr id="31" name="TextBox 30"/>
          <p:cNvSpPr txBox="1"/>
          <p:nvPr/>
        </p:nvSpPr>
        <p:spPr>
          <a:xfrm>
            <a:off x="4846320" y="4983480"/>
            <a:ext cx="2560320" cy="320040"/>
          </a:xfrm>
          <a:prstGeom prst="rect">
            <a:avLst/>
          </a:prstGeom>
          <a:noFill/>
        </p:spPr>
        <p:txBody>
          <a:bodyPr wrap="square">
            <a:spAutoFit/>
          </a:bodyPr>
          <a:lstStyle/>
          <a:p>
            <a:pPr algn="l">
              <a:defRPr sz="1300" b="1">
                <a:solidFill>
                  <a:srgbClr val="F59E0B"/>
                </a:solidFill>
                <a:latin typeface="Segoe UI"/>
              </a:defRPr>
            </a:pPr>
            <a:r>
              <a:t>Configs &amp; Results</a:t>
            </a:r>
          </a:p>
        </p:txBody>
      </p:sp>
      <p:sp>
        <p:nvSpPr>
          <p:cNvPr id="32" name="TextBox 31"/>
          <p:cNvSpPr txBox="1"/>
          <p:nvPr/>
        </p:nvSpPr>
        <p:spPr>
          <a:xfrm>
            <a:off x="4846320" y="5349240"/>
            <a:ext cx="2560320" cy="731520"/>
          </a:xfrm>
          <a:prstGeom prst="rect">
            <a:avLst/>
          </a:prstGeom>
          <a:noFill/>
        </p:spPr>
        <p:txBody>
          <a:bodyPr wrap="square">
            <a:spAutoFit/>
          </a:bodyPr>
          <a:lstStyle/>
          <a:p>
            <a:pPr algn="l">
              <a:defRPr sz="1200" b="0">
                <a:solidFill>
                  <a:srgbClr val="A0A0B8"/>
                </a:solidFill>
                <a:latin typeface="Segoe UI"/>
              </a:defRPr>
            </a:pPr>
            <a:r>
              <a:t>Reproducible experiment tracking</a:t>
            </a:r>
            <a:br/>
            <a:r>
              <a:t>with full provenance</a:t>
            </a:r>
          </a:p>
        </p:txBody>
      </p:sp>
      <p:sp>
        <p:nvSpPr>
          <p:cNvPr id="33" name="Rounded Rectangle 32"/>
          <p:cNvSpPr/>
          <p:nvPr/>
        </p:nvSpPr>
        <p:spPr>
          <a:xfrm>
            <a:off x="8046719" y="4297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599" y="4407408"/>
            <a:ext cx="1371600" cy="36576"/>
          </a:xfrm>
          <a:prstGeom prst="rect">
            <a:avLst/>
          </a:prstGeom>
          <a:gradFill rotWithShape="1">
            <a:gsLst>
              <a:gs pos="0">
                <a:srgbClr val="F97316"/>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39" y="4572000"/>
            <a:ext cx="2560320" cy="365760"/>
          </a:xfrm>
          <a:prstGeom prst="rect">
            <a:avLst/>
          </a:prstGeom>
          <a:noFill/>
        </p:spPr>
        <p:txBody>
          <a:bodyPr wrap="square">
            <a:spAutoFit/>
          </a:bodyPr>
          <a:lstStyle/>
          <a:p>
            <a:pPr algn="l">
              <a:defRPr sz="1800" b="1">
                <a:solidFill>
                  <a:srgbClr val="FFFFFF"/>
                </a:solidFill>
                <a:latin typeface="Segoe UI"/>
              </a:defRPr>
            </a:pPr>
            <a:r>
              <a:t>📚  Documentation</a:t>
            </a:r>
          </a:p>
        </p:txBody>
      </p:sp>
      <p:sp>
        <p:nvSpPr>
          <p:cNvPr id="36" name="TextBox 35"/>
          <p:cNvSpPr txBox="1"/>
          <p:nvPr/>
        </p:nvSpPr>
        <p:spPr>
          <a:xfrm>
            <a:off x="8321039" y="4983480"/>
            <a:ext cx="2560320" cy="320040"/>
          </a:xfrm>
          <a:prstGeom prst="rect">
            <a:avLst/>
          </a:prstGeom>
          <a:noFill/>
        </p:spPr>
        <p:txBody>
          <a:bodyPr wrap="square">
            <a:spAutoFit/>
          </a:bodyPr>
          <a:lstStyle/>
          <a:p>
            <a:pPr algn="l">
              <a:defRPr sz="1300" b="1">
                <a:solidFill>
                  <a:srgbClr val="F97316"/>
                </a:solidFill>
                <a:latin typeface="Segoe UI"/>
              </a:defRPr>
            </a:pPr>
            <a:r>
              <a:t>Research Docs</a:t>
            </a:r>
          </a:p>
        </p:txBody>
      </p:sp>
      <p:sp>
        <p:nvSpPr>
          <p:cNvPr id="37" name="TextBox 36"/>
          <p:cNvSpPr txBox="1"/>
          <p:nvPr/>
        </p:nvSpPr>
        <p:spPr>
          <a:xfrm>
            <a:off x="8321039" y="5349240"/>
            <a:ext cx="2560320" cy="731520"/>
          </a:xfrm>
          <a:prstGeom prst="rect">
            <a:avLst/>
          </a:prstGeom>
          <a:noFill/>
        </p:spPr>
        <p:txBody>
          <a:bodyPr wrap="square">
            <a:spAutoFit/>
          </a:bodyPr>
          <a:lstStyle/>
          <a:p>
            <a:pPr algn="l">
              <a:defRPr sz="1200" b="0">
                <a:solidFill>
                  <a:srgbClr val="A0A0B8"/>
                </a:solidFill>
                <a:latin typeface="Segoe UI"/>
              </a:defRPr>
            </a:pPr>
            <a:r>
              <a:t>Provenance, AI disclosure,</a:t>
            </a:r>
            <a:br/>
            <a:r>
              <a:t>scientific literature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9601200" y="-1371600"/>
            <a:ext cx="3657600" cy="3657600"/>
          </a:xfrm>
          <a:prstGeom prst="ellipse">
            <a:avLst/>
          </a:prstGeom>
          <a:solidFill>
            <a:srgbClr val="7C3A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5029200"/>
            <a:ext cx="3200400" cy="32004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45720"/>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828800" cy="1371600"/>
          </a:xfrm>
          <a:prstGeom prst="rect">
            <a:avLst/>
          </a:prstGeom>
          <a:noFill/>
        </p:spPr>
        <p:txBody>
          <a:bodyPr wrap="square">
            <a:spAutoFit/>
          </a:bodyPr>
          <a:lstStyle/>
          <a:p>
            <a:pPr algn="l">
              <a:defRPr sz="7200" b="1">
                <a:solidFill>
                  <a:srgbClr val="7C3AED"/>
                </a:solidFill>
                <a:latin typeface="Segoe UI"/>
              </a:defRPr>
            </a:pPr>
            <a:r>
              <a:t>03</a:t>
            </a:r>
          </a:p>
        </p:txBody>
      </p:sp>
      <p:sp>
        <p:nvSpPr>
          <p:cNvPr id="6" name="TextBox 5"/>
          <p:cNvSpPr txBox="1"/>
          <p:nvPr/>
        </p:nvSpPr>
        <p:spPr>
          <a:xfrm>
            <a:off x="1097280" y="548640"/>
            <a:ext cx="4572000" cy="457200"/>
          </a:xfrm>
          <a:prstGeom prst="rect">
            <a:avLst/>
          </a:prstGeom>
          <a:noFill/>
        </p:spPr>
        <p:txBody>
          <a:bodyPr wrap="square">
            <a:spAutoFit/>
          </a:bodyPr>
          <a:lstStyle/>
          <a:p>
            <a:pPr algn="l">
              <a:defRPr sz="1300" b="1">
                <a:solidFill>
                  <a:srgbClr val="06B6D4"/>
                </a:solidFill>
                <a:latin typeface="Segoe UI"/>
              </a:defRPr>
            </a:pPr>
            <a:r>
              <a:t>METHODOLOGY</a:t>
            </a:r>
          </a:p>
        </p:txBody>
      </p:sp>
      <p:sp>
        <p:nvSpPr>
          <p:cNvPr id="7" name="TextBox 6"/>
          <p:cNvSpPr txBox="1"/>
          <p:nvPr/>
        </p:nvSpPr>
        <p:spPr>
          <a:xfrm>
            <a:off x="1097280" y="1005840"/>
            <a:ext cx="9144000" cy="731520"/>
          </a:xfrm>
          <a:prstGeom prst="rect">
            <a:avLst/>
          </a:prstGeom>
          <a:noFill/>
        </p:spPr>
        <p:txBody>
          <a:bodyPr wrap="square">
            <a:spAutoFit/>
          </a:bodyPr>
          <a:lstStyle/>
          <a:p>
            <a:pPr algn="l">
              <a:defRPr sz="3600" b="1">
                <a:solidFill>
                  <a:srgbClr val="FFFFFF"/>
                </a:solidFill>
                <a:latin typeface="Segoe UI"/>
              </a:defRPr>
            </a:pPr>
            <a:r>
              <a:t>Public vs. Fresh Task Comparison</a:t>
            </a:r>
          </a:p>
        </p:txBody>
      </p:sp>
      <p:sp>
        <p:nvSpPr>
          <p:cNvPr id="8" name="Oval 7"/>
          <p:cNvSpPr/>
          <p:nvPr/>
        </p:nvSpPr>
        <p:spPr>
          <a:xfrm>
            <a:off x="1188720" y="2011680"/>
            <a:ext cx="640080" cy="64008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defRPr sz="2200" b="1">
                <a:solidFill>
                  <a:srgbClr val="FFFFFF"/>
                </a:solidFill>
                <a:latin typeface="Segoe UI"/>
              </a:defRPr>
            </a:pPr>
            <a:r>
              <a:t>1</a:t>
            </a:r>
          </a:p>
        </p:txBody>
      </p:sp>
      <p:sp>
        <p:nvSpPr>
          <p:cNvPr id="9" name="Rectangle 8"/>
          <p:cNvSpPr/>
          <p:nvPr/>
        </p:nvSpPr>
        <p:spPr>
          <a:xfrm>
            <a:off x="1920240" y="2286000"/>
            <a:ext cx="1371600" cy="36576"/>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834640"/>
            <a:ext cx="1828800" cy="365760"/>
          </a:xfrm>
          <a:prstGeom prst="rect">
            <a:avLst/>
          </a:prstGeom>
          <a:noFill/>
        </p:spPr>
        <p:txBody>
          <a:bodyPr wrap="square">
            <a:spAutoFit/>
          </a:bodyPr>
          <a:lstStyle/>
          <a:p>
            <a:pPr algn="ctr">
              <a:defRPr sz="1500" b="1">
                <a:solidFill>
                  <a:srgbClr val="FFFFFF"/>
                </a:solidFill>
                <a:latin typeface="Segoe UI"/>
              </a:defRPr>
            </a:pPr>
            <a:r>
              <a:t>Select Solver</a:t>
            </a:r>
          </a:p>
        </p:txBody>
      </p:sp>
      <p:sp>
        <p:nvSpPr>
          <p:cNvPr id="11" name="TextBox 10"/>
          <p:cNvSpPr txBox="1"/>
          <p:nvPr/>
        </p:nvSpPr>
        <p:spPr>
          <a:xfrm>
            <a:off x="640080" y="3200400"/>
            <a:ext cx="1828800" cy="640080"/>
          </a:xfrm>
          <a:prstGeom prst="rect">
            <a:avLst/>
          </a:prstGeom>
          <a:noFill/>
        </p:spPr>
        <p:txBody>
          <a:bodyPr wrap="square">
            <a:spAutoFit/>
          </a:bodyPr>
          <a:lstStyle/>
          <a:p>
            <a:pPr algn="ctr">
              <a:defRPr sz="1100" b="0">
                <a:solidFill>
                  <a:srgbClr val="A0A0B8"/>
                </a:solidFill>
                <a:latin typeface="Segoe UI"/>
              </a:defRPr>
            </a:pPr>
            <a:r>
              <a:t>Heuristic, random baseline,</a:t>
            </a:r>
            <a:br/>
            <a:r>
              <a:t>or optional LLM solver</a:t>
            </a:r>
          </a:p>
        </p:txBody>
      </p:sp>
      <p:sp>
        <p:nvSpPr>
          <p:cNvPr id="12" name="Oval 11"/>
          <p:cNvSpPr/>
          <p:nvPr/>
        </p:nvSpPr>
        <p:spPr>
          <a:xfrm>
            <a:off x="3474720" y="2011680"/>
            <a:ext cx="640080" cy="64008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defRPr sz="2200" b="1">
                <a:solidFill>
                  <a:srgbClr val="FFFFFF"/>
                </a:solidFill>
                <a:latin typeface="Segoe UI"/>
              </a:defRPr>
            </a:pPr>
            <a:r>
              <a:t>2</a:t>
            </a:r>
          </a:p>
        </p:txBody>
      </p:sp>
      <p:sp>
        <p:nvSpPr>
          <p:cNvPr id="13" name="Rectangle 12"/>
          <p:cNvSpPr/>
          <p:nvPr/>
        </p:nvSpPr>
        <p:spPr>
          <a:xfrm>
            <a:off x="4206240" y="2286000"/>
            <a:ext cx="1371600" cy="36576"/>
          </a:xfrm>
          <a:prstGeom prst="rect">
            <a:avLst/>
          </a:prstGeom>
          <a:gradFill rotWithShape="1">
            <a:gsLst>
              <a:gs pos="0">
                <a:srgbClr val="06B6D4"/>
              </a:gs>
              <a:gs pos="100000">
                <a:srgbClr val="EC4899"/>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2834640"/>
            <a:ext cx="1828800" cy="365760"/>
          </a:xfrm>
          <a:prstGeom prst="rect">
            <a:avLst/>
          </a:prstGeom>
          <a:noFill/>
        </p:spPr>
        <p:txBody>
          <a:bodyPr wrap="square">
            <a:spAutoFit/>
          </a:bodyPr>
          <a:lstStyle/>
          <a:p>
            <a:pPr algn="ctr">
              <a:defRPr sz="1500" b="1">
                <a:solidFill>
                  <a:srgbClr val="FFFFFF"/>
                </a:solidFill>
                <a:latin typeface="Segoe UI"/>
              </a:defRPr>
            </a:pPr>
            <a:r>
              <a:t>Evaluate Public</a:t>
            </a:r>
          </a:p>
        </p:txBody>
      </p:sp>
      <p:sp>
        <p:nvSpPr>
          <p:cNvPr id="15" name="TextBox 14"/>
          <p:cNvSpPr txBox="1"/>
          <p:nvPr/>
        </p:nvSpPr>
        <p:spPr>
          <a:xfrm>
            <a:off x="2926080" y="3200400"/>
            <a:ext cx="1828800" cy="640080"/>
          </a:xfrm>
          <a:prstGeom prst="rect">
            <a:avLst/>
          </a:prstGeom>
          <a:noFill/>
        </p:spPr>
        <p:txBody>
          <a:bodyPr wrap="square">
            <a:spAutoFit/>
          </a:bodyPr>
          <a:lstStyle/>
          <a:p>
            <a:pPr algn="ctr">
              <a:defRPr sz="1100" b="0">
                <a:solidFill>
                  <a:srgbClr val="A0A0B8"/>
                </a:solidFill>
                <a:latin typeface="Segoe UI"/>
              </a:defRPr>
            </a:pPr>
            <a:r>
              <a:t>Sample from 400</a:t>
            </a:r>
            <a:br/>
            <a:r>
              <a:t>ARC-AGI-1 eval tasks</a:t>
            </a:r>
          </a:p>
        </p:txBody>
      </p:sp>
      <p:sp>
        <p:nvSpPr>
          <p:cNvPr id="16" name="Oval 15"/>
          <p:cNvSpPr/>
          <p:nvPr/>
        </p:nvSpPr>
        <p:spPr>
          <a:xfrm>
            <a:off x="5760720" y="2011680"/>
            <a:ext cx="640080" cy="64008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defRPr sz="2200" b="1">
                <a:solidFill>
                  <a:srgbClr val="FFFFFF"/>
                </a:solidFill>
                <a:latin typeface="Segoe UI"/>
              </a:defRPr>
            </a:pPr>
            <a:r>
              <a:t>3</a:t>
            </a:r>
          </a:p>
        </p:txBody>
      </p:sp>
      <p:sp>
        <p:nvSpPr>
          <p:cNvPr id="17" name="Rectangle 16"/>
          <p:cNvSpPr/>
          <p:nvPr/>
        </p:nvSpPr>
        <p:spPr>
          <a:xfrm>
            <a:off x="6492240" y="2286000"/>
            <a:ext cx="1371600" cy="36576"/>
          </a:xfrm>
          <a:prstGeom prst="rect">
            <a:avLst/>
          </a:prstGeom>
          <a:gradFill rotWithShape="1">
            <a:gsLst>
              <a:gs pos="0">
                <a:srgbClr val="EC4899"/>
              </a:gs>
              <a:gs pos="100000">
                <a:srgbClr val="10B981"/>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2834640"/>
            <a:ext cx="1828800" cy="365760"/>
          </a:xfrm>
          <a:prstGeom prst="rect">
            <a:avLst/>
          </a:prstGeom>
          <a:noFill/>
        </p:spPr>
        <p:txBody>
          <a:bodyPr wrap="square">
            <a:spAutoFit/>
          </a:bodyPr>
          <a:lstStyle/>
          <a:p>
            <a:pPr algn="ctr">
              <a:defRPr sz="1500" b="1">
                <a:solidFill>
                  <a:srgbClr val="FFFFFF"/>
                </a:solidFill>
                <a:latin typeface="Segoe UI"/>
              </a:defRPr>
            </a:pPr>
            <a:r>
              <a:t>Generate Fresh</a:t>
            </a:r>
          </a:p>
        </p:txBody>
      </p:sp>
      <p:sp>
        <p:nvSpPr>
          <p:cNvPr id="19" name="TextBox 18"/>
          <p:cNvSpPr txBox="1"/>
          <p:nvPr/>
        </p:nvSpPr>
        <p:spPr>
          <a:xfrm>
            <a:off x="5212080" y="3200400"/>
            <a:ext cx="1828800" cy="640080"/>
          </a:xfrm>
          <a:prstGeom prst="rect">
            <a:avLst/>
          </a:prstGeom>
          <a:noFill/>
        </p:spPr>
        <p:txBody>
          <a:bodyPr wrap="square">
            <a:spAutoFit/>
          </a:bodyPr>
          <a:lstStyle/>
          <a:p>
            <a:pPr algn="ctr">
              <a:defRPr sz="1100" b="0">
                <a:solidFill>
                  <a:srgbClr val="A0A0B8"/>
                </a:solidFill>
                <a:latin typeface="Segoe UI"/>
              </a:defRPr>
            </a:pPr>
            <a:r>
              <a:t>Create distribution-matched</a:t>
            </a:r>
            <a:br/>
            <a:r>
              <a:t>tasks via arc-task-gen</a:t>
            </a:r>
          </a:p>
        </p:txBody>
      </p:sp>
      <p:sp>
        <p:nvSpPr>
          <p:cNvPr id="20" name="Oval 19"/>
          <p:cNvSpPr/>
          <p:nvPr/>
        </p:nvSpPr>
        <p:spPr>
          <a:xfrm>
            <a:off x="8046720" y="2011680"/>
            <a:ext cx="640080" cy="6400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defRPr sz="2200" b="1">
                <a:solidFill>
                  <a:srgbClr val="FFFFFF"/>
                </a:solidFill>
                <a:latin typeface="Segoe UI"/>
              </a:defRPr>
            </a:pPr>
            <a:r>
              <a:t>4</a:t>
            </a:r>
          </a:p>
        </p:txBody>
      </p:sp>
      <p:sp>
        <p:nvSpPr>
          <p:cNvPr id="21" name="Rectangle 20"/>
          <p:cNvSpPr/>
          <p:nvPr/>
        </p:nvSpPr>
        <p:spPr>
          <a:xfrm>
            <a:off x="8778240" y="2286000"/>
            <a:ext cx="1371600" cy="36576"/>
          </a:xfrm>
          <a:prstGeom prst="rect">
            <a:avLst/>
          </a:prstGeom>
          <a:gradFill rotWithShape="1">
            <a:gsLst>
              <a:gs pos="0">
                <a:srgbClr val="10B981"/>
              </a:gs>
              <a:gs pos="100000">
                <a:srgbClr val="F59E0B"/>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0" y="2834640"/>
            <a:ext cx="1828800" cy="365760"/>
          </a:xfrm>
          <a:prstGeom prst="rect">
            <a:avLst/>
          </a:prstGeom>
          <a:noFill/>
        </p:spPr>
        <p:txBody>
          <a:bodyPr wrap="square">
            <a:spAutoFit/>
          </a:bodyPr>
          <a:lstStyle/>
          <a:p>
            <a:pPr algn="ctr">
              <a:defRPr sz="1500" b="1">
                <a:solidFill>
                  <a:srgbClr val="FFFFFF"/>
                </a:solidFill>
                <a:latin typeface="Segoe UI"/>
              </a:defRPr>
            </a:pPr>
            <a:r>
              <a:t>Compute Gap</a:t>
            </a:r>
          </a:p>
        </p:txBody>
      </p:sp>
      <p:sp>
        <p:nvSpPr>
          <p:cNvPr id="23" name="TextBox 22"/>
          <p:cNvSpPr txBox="1"/>
          <p:nvPr/>
        </p:nvSpPr>
        <p:spPr>
          <a:xfrm>
            <a:off x="7498080" y="3200400"/>
            <a:ext cx="1828800" cy="640080"/>
          </a:xfrm>
          <a:prstGeom prst="rect">
            <a:avLst/>
          </a:prstGeom>
          <a:noFill/>
        </p:spPr>
        <p:txBody>
          <a:bodyPr wrap="square">
            <a:spAutoFit/>
          </a:bodyPr>
          <a:lstStyle/>
          <a:p>
            <a:pPr algn="ctr">
              <a:defRPr sz="1100" b="0">
                <a:solidFill>
                  <a:srgbClr val="A0A0B8"/>
                </a:solidFill>
                <a:latin typeface="Segoe UI"/>
              </a:defRPr>
            </a:pPr>
            <a:r>
              <a:t>Compare exact-match &amp;</a:t>
            </a:r>
            <a:br/>
            <a:r>
              <a:t>cell accuracy metrics</a:t>
            </a:r>
          </a:p>
        </p:txBody>
      </p:sp>
      <p:sp>
        <p:nvSpPr>
          <p:cNvPr id="24" name="Oval 23"/>
          <p:cNvSpPr/>
          <p:nvPr/>
        </p:nvSpPr>
        <p:spPr>
          <a:xfrm>
            <a:off x="10332720" y="2011680"/>
            <a:ext cx="640080" cy="6400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defRPr sz="2200" b="1">
                <a:solidFill>
                  <a:srgbClr val="FFFFFF"/>
                </a:solidFill>
                <a:latin typeface="Segoe UI"/>
              </a:defRPr>
            </a:pPr>
            <a:r>
              <a:t>5</a:t>
            </a:r>
          </a:p>
        </p:txBody>
      </p:sp>
      <p:sp>
        <p:nvSpPr>
          <p:cNvPr id="25" name="TextBox 24"/>
          <p:cNvSpPr txBox="1"/>
          <p:nvPr/>
        </p:nvSpPr>
        <p:spPr>
          <a:xfrm>
            <a:off x="9784080" y="2834640"/>
            <a:ext cx="1828800" cy="365760"/>
          </a:xfrm>
          <a:prstGeom prst="rect">
            <a:avLst/>
          </a:prstGeom>
          <a:noFill/>
        </p:spPr>
        <p:txBody>
          <a:bodyPr wrap="square">
            <a:spAutoFit/>
          </a:bodyPr>
          <a:lstStyle/>
          <a:p>
            <a:pPr algn="ctr">
              <a:defRPr sz="1500" b="1">
                <a:solidFill>
                  <a:srgbClr val="FFFFFF"/>
                </a:solidFill>
                <a:latin typeface="Segoe UI"/>
              </a:defRPr>
            </a:pPr>
            <a:r>
              <a:t>Analyze</a:t>
            </a:r>
          </a:p>
        </p:txBody>
      </p:sp>
      <p:sp>
        <p:nvSpPr>
          <p:cNvPr id="26" name="TextBox 25"/>
          <p:cNvSpPr txBox="1"/>
          <p:nvPr/>
        </p:nvSpPr>
        <p:spPr>
          <a:xfrm>
            <a:off x="9784080" y="3200400"/>
            <a:ext cx="1828800" cy="640080"/>
          </a:xfrm>
          <a:prstGeom prst="rect">
            <a:avLst/>
          </a:prstGeom>
          <a:noFill/>
        </p:spPr>
        <p:txBody>
          <a:bodyPr wrap="square">
            <a:spAutoFit/>
          </a:bodyPr>
          <a:lstStyle/>
          <a:p>
            <a:pPr algn="ctr">
              <a:defRPr sz="1100" b="0">
                <a:solidFill>
                  <a:srgbClr val="A0A0B8"/>
                </a:solidFill>
                <a:latin typeface="Segoe UI"/>
              </a:defRPr>
            </a:pPr>
            <a:r>
              <a:t>Failure analysis by</a:t>
            </a:r>
            <a:br/>
            <a:r>
              <a:t>task properties</a:t>
            </a:r>
          </a:p>
        </p:txBody>
      </p:sp>
      <p:sp>
        <p:nvSpPr>
          <p:cNvPr id="27" name="Rounded Rectangle 26"/>
          <p:cNvSpPr/>
          <p:nvPr/>
        </p:nvSpPr>
        <p:spPr>
          <a:xfrm>
            <a:off x="1097280" y="4114800"/>
            <a:ext cx="10058400" cy="228600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63040" y="4251960"/>
            <a:ext cx="4572000" cy="365760"/>
          </a:xfrm>
          <a:prstGeom prst="rect">
            <a:avLst/>
          </a:prstGeom>
          <a:noFill/>
        </p:spPr>
        <p:txBody>
          <a:bodyPr wrap="square">
            <a:spAutoFit/>
          </a:bodyPr>
          <a:lstStyle/>
          <a:p>
            <a:pPr algn="l">
              <a:defRPr sz="1800" b="1">
                <a:solidFill>
                  <a:srgbClr val="FFFFFF"/>
                </a:solidFill>
                <a:latin typeface="Segoe UI"/>
              </a:defRPr>
            </a:pPr>
            <a:r>
              <a:t>📐  Statistical Methods</a:t>
            </a:r>
          </a:p>
        </p:txBody>
      </p:sp>
      <p:sp>
        <p:nvSpPr>
          <p:cNvPr id="29" name="Rounded Rectangle 28"/>
          <p:cNvSpPr/>
          <p:nvPr/>
        </p:nvSpPr>
        <p:spPr>
          <a:xfrm>
            <a:off x="1645920" y="4754880"/>
            <a:ext cx="2560320" cy="1371600"/>
          </a:xfrm>
          <a:prstGeom prst="roundRect">
            <a:avLst/>
          </a:prstGeom>
          <a:solidFill>
            <a:srgbClr val="16162A"/>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28800" y="4864608"/>
            <a:ext cx="1097280" cy="36576"/>
          </a:xfrm>
          <a:prstGeom prst="rect">
            <a:avLst/>
          </a:prstGeom>
          <a:gradFill rotWithShape="1">
            <a:gsLst>
              <a:gs pos="0">
                <a:srgbClr val="06B6D4"/>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20240" y="5029200"/>
            <a:ext cx="2011680" cy="548640"/>
          </a:xfrm>
          <a:prstGeom prst="rect">
            <a:avLst/>
          </a:prstGeom>
          <a:noFill/>
        </p:spPr>
        <p:txBody>
          <a:bodyPr wrap="square">
            <a:spAutoFit/>
          </a:bodyPr>
          <a:lstStyle/>
          <a:p>
            <a:pPr algn="ctr">
              <a:defRPr sz="1500" b="1">
                <a:solidFill>
                  <a:srgbClr val="FFFFFF"/>
                </a:solidFill>
                <a:latin typeface="Segoe UI"/>
              </a:defRPr>
            </a:pPr>
            <a:r>
              <a:t>Exact-Match</a:t>
            </a:r>
            <a:br/>
            <a:r>
              <a:t>Accuracy</a:t>
            </a:r>
          </a:p>
        </p:txBody>
      </p:sp>
      <p:sp>
        <p:nvSpPr>
          <p:cNvPr id="32" name="TextBox 31"/>
          <p:cNvSpPr txBox="1"/>
          <p:nvPr/>
        </p:nvSpPr>
        <p:spPr>
          <a:xfrm>
            <a:off x="1920240" y="5577840"/>
            <a:ext cx="2011680" cy="457200"/>
          </a:xfrm>
          <a:prstGeom prst="rect">
            <a:avLst/>
          </a:prstGeom>
          <a:noFill/>
        </p:spPr>
        <p:txBody>
          <a:bodyPr wrap="square">
            <a:spAutoFit/>
          </a:bodyPr>
          <a:lstStyle/>
          <a:p>
            <a:pPr algn="ctr">
              <a:defRPr sz="1100" b="0">
                <a:solidFill>
                  <a:srgbClr val="A0A0B8"/>
                </a:solidFill>
                <a:latin typeface="Segoe UI"/>
              </a:defRPr>
            </a:pPr>
            <a:r>
              <a:t>Binary per-task</a:t>
            </a:r>
            <a:br/>
            <a:r>
              <a:t>success rate</a:t>
            </a:r>
          </a:p>
        </p:txBody>
      </p:sp>
      <p:sp>
        <p:nvSpPr>
          <p:cNvPr id="33" name="Rounded Rectangle 32"/>
          <p:cNvSpPr/>
          <p:nvPr/>
        </p:nvSpPr>
        <p:spPr>
          <a:xfrm>
            <a:off x="4754880" y="4754880"/>
            <a:ext cx="2560320" cy="1371600"/>
          </a:xfrm>
          <a:prstGeom prst="roundRect">
            <a:avLst/>
          </a:prstGeom>
          <a:solidFill>
            <a:srgbClr val="16162A"/>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937760" y="4864608"/>
            <a:ext cx="1097280" cy="36576"/>
          </a:xfrm>
          <a:prstGeom prst="rect">
            <a:avLst/>
          </a:prstGeom>
          <a:gradFill rotWithShape="1">
            <a:gsLst>
              <a:gs pos="0">
                <a:srgbClr val="7C3AED"/>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0" y="5029200"/>
            <a:ext cx="2011680" cy="548640"/>
          </a:xfrm>
          <a:prstGeom prst="rect">
            <a:avLst/>
          </a:prstGeom>
          <a:noFill/>
        </p:spPr>
        <p:txBody>
          <a:bodyPr wrap="square">
            <a:spAutoFit/>
          </a:bodyPr>
          <a:lstStyle/>
          <a:p>
            <a:pPr algn="ctr">
              <a:defRPr sz="1500" b="1">
                <a:solidFill>
                  <a:srgbClr val="FFFFFF"/>
                </a:solidFill>
                <a:latin typeface="Segoe UI"/>
              </a:defRPr>
            </a:pPr>
            <a:r>
              <a:t>Cell</a:t>
            </a:r>
            <a:br/>
            <a:r>
              <a:t>Accuracy</a:t>
            </a:r>
          </a:p>
        </p:txBody>
      </p:sp>
      <p:sp>
        <p:nvSpPr>
          <p:cNvPr id="36" name="TextBox 35"/>
          <p:cNvSpPr txBox="1"/>
          <p:nvPr/>
        </p:nvSpPr>
        <p:spPr>
          <a:xfrm>
            <a:off x="5029200" y="5577840"/>
            <a:ext cx="2011680" cy="457200"/>
          </a:xfrm>
          <a:prstGeom prst="rect">
            <a:avLst/>
          </a:prstGeom>
          <a:noFill/>
        </p:spPr>
        <p:txBody>
          <a:bodyPr wrap="square">
            <a:spAutoFit/>
          </a:bodyPr>
          <a:lstStyle/>
          <a:p>
            <a:pPr algn="ctr">
              <a:defRPr sz="1100" b="0">
                <a:solidFill>
                  <a:srgbClr val="A0A0B8"/>
                </a:solidFill>
                <a:latin typeface="Segoe UI"/>
              </a:defRPr>
            </a:pPr>
            <a:r>
              <a:t>Proportion of</a:t>
            </a:r>
            <a:br/>
            <a:r>
              <a:t>correct cells</a:t>
            </a:r>
          </a:p>
        </p:txBody>
      </p:sp>
      <p:sp>
        <p:nvSpPr>
          <p:cNvPr id="37" name="Rounded Rectangle 36"/>
          <p:cNvSpPr/>
          <p:nvPr/>
        </p:nvSpPr>
        <p:spPr>
          <a:xfrm>
            <a:off x="7863840" y="4754880"/>
            <a:ext cx="2560320" cy="1371600"/>
          </a:xfrm>
          <a:prstGeom prst="roundRect">
            <a:avLst/>
          </a:prstGeom>
          <a:solidFill>
            <a:srgbClr val="16162A"/>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20" y="4864608"/>
            <a:ext cx="1097280" cy="36576"/>
          </a:xfrm>
          <a:prstGeom prst="rect">
            <a:avLst/>
          </a:prstGeom>
          <a:gradFill rotWithShape="1">
            <a:gsLst>
              <a:gs pos="0">
                <a:srgbClr val="EC4899"/>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8160" y="5029200"/>
            <a:ext cx="2011680" cy="548640"/>
          </a:xfrm>
          <a:prstGeom prst="rect">
            <a:avLst/>
          </a:prstGeom>
          <a:noFill/>
        </p:spPr>
        <p:txBody>
          <a:bodyPr wrap="square">
            <a:spAutoFit/>
          </a:bodyPr>
          <a:lstStyle/>
          <a:p>
            <a:pPr algn="ctr">
              <a:defRPr sz="1500" b="1">
                <a:solidFill>
                  <a:srgbClr val="FFFFFF"/>
                </a:solidFill>
                <a:latin typeface="Segoe UI"/>
              </a:defRPr>
            </a:pPr>
            <a:r>
              <a:t>Generalization</a:t>
            </a:r>
            <a:br/>
            <a:r>
              <a:t>Gap</a:t>
            </a:r>
          </a:p>
        </p:txBody>
      </p:sp>
      <p:sp>
        <p:nvSpPr>
          <p:cNvPr id="40" name="TextBox 39"/>
          <p:cNvSpPr txBox="1"/>
          <p:nvPr/>
        </p:nvSpPr>
        <p:spPr>
          <a:xfrm>
            <a:off x="8138160" y="5577840"/>
            <a:ext cx="2011680" cy="457200"/>
          </a:xfrm>
          <a:prstGeom prst="rect">
            <a:avLst/>
          </a:prstGeom>
          <a:noFill/>
        </p:spPr>
        <p:txBody>
          <a:bodyPr wrap="square">
            <a:spAutoFit/>
          </a:bodyPr>
          <a:lstStyle/>
          <a:p>
            <a:pPr algn="ctr">
              <a:defRPr sz="1100" b="0">
                <a:solidFill>
                  <a:srgbClr val="A0A0B8"/>
                </a:solidFill>
                <a:latin typeface="Segoe UI"/>
              </a:defRPr>
            </a:pPr>
            <a:r>
              <a:t>Δ accuracy between</a:t>
            </a:r>
            <a:br/>
            <a:r>
              <a:t>public &amp; fresh 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9601200" y="-1371600"/>
            <a:ext cx="3657600" cy="3657600"/>
          </a:xfrm>
          <a:prstGeom prst="ellipse">
            <a:avLst/>
          </a:prstGeom>
          <a:solidFill>
            <a:srgbClr val="7C3A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5029200"/>
            <a:ext cx="3200400" cy="32004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45720"/>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828800" cy="1371600"/>
          </a:xfrm>
          <a:prstGeom prst="rect">
            <a:avLst/>
          </a:prstGeom>
          <a:noFill/>
        </p:spPr>
        <p:txBody>
          <a:bodyPr wrap="square">
            <a:spAutoFit/>
          </a:bodyPr>
          <a:lstStyle/>
          <a:p>
            <a:pPr algn="l">
              <a:defRPr sz="7200" b="1">
                <a:solidFill>
                  <a:srgbClr val="7C3AED"/>
                </a:solidFill>
                <a:latin typeface="Segoe UI"/>
              </a:defRPr>
            </a:pPr>
            <a:r>
              <a:t>03</a:t>
            </a:r>
          </a:p>
        </p:txBody>
      </p:sp>
      <p:sp>
        <p:nvSpPr>
          <p:cNvPr id="6" name="TextBox 5"/>
          <p:cNvSpPr txBox="1"/>
          <p:nvPr/>
        </p:nvSpPr>
        <p:spPr>
          <a:xfrm>
            <a:off x="1097280" y="548640"/>
            <a:ext cx="4572000" cy="457200"/>
          </a:xfrm>
          <a:prstGeom prst="rect">
            <a:avLst/>
          </a:prstGeom>
          <a:noFill/>
        </p:spPr>
        <p:txBody>
          <a:bodyPr wrap="square">
            <a:spAutoFit/>
          </a:bodyPr>
          <a:lstStyle/>
          <a:p>
            <a:pPr algn="l">
              <a:defRPr sz="1300" b="1">
                <a:solidFill>
                  <a:srgbClr val="EC4899"/>
                </a:solidFill>
                <a:latin typeface="Segoe UI"/>
              </a:defRPr>
            </a:pPr>
            <a:r>
              <a:t>GENERATION PIPELINE</a:t>
            </a:r>
          </a:p>
        </p:txBody>
      </p:sp>
      <p:sp>
        <p:nvSpPr>
          <p:cNvPr id="7" name="TextBox 6"/>
          <p:cNvSpPr txBox="1"/>
          <p:nvPr/>
        </p:nvSpPr>
        <p:spPr>
          <a:xfrm>
            <a:off x="1097280" y="1005840"/>
            <a:ext cx="9144000" cy="731520"/>
          </a:xfrm>
          <a:prstGeom prst="rect">
            <a:avLst/>
          </a:prstGeom>
          <a:noFill/>
        </p:spPr>
        <p:txBody>
          <a:bodyPr wrap="square">
            <a:spAutoFit/>
          </a:bodyPr>
          <a:lstStyle/>
          <a:p>
            <a:pPr algn="l">
              <a:defRPr sz="3600" b="1">
                <a:solidFill>
                  <a:srgbClr val="FFFFFF"/>
                </a:solidFill>
                <a:latin typeface="Segoe UI"/>
              </a:defRPr>
            </a:pPr>
            <a:r>
              <a:t>How Fresh Tasks Are Generated</a:t>
            </a:r>
          </a:p>
        </p:txBody>
      </p:sp>
      <p:sp>
        <p:nvSpPr>
          <p:cNvPr id="8" name="Rounded Rectangle 7"/>
          <p:cNvSpPr/>
          <p:nvPr/>
        </p:nvSpPr>
        <p:spPr>
          <a:xfrm>
            <a:off x="914400" y="2011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148840"/>
            <a:ext cx="411480" cy="41148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10" name="TextBox 9"/>
          <p:cNvSpPr txBox="1"/>
          <p:nvPr/>
        </p:nvSpPr>
        <p:spPr>
          <a:xfrm>
            <a:off x="1554480" y="2194560"/>
            <a:ext cx="2286000" cy="548640"/>
          </a:xfrm>
          <a:prstGeom prst="rect">
            <a:avLst/>
          </a:prstGeom>
          <a:noFill/>
        </p:spPr>
        <p:txBody>
          <a:bodyPr wrap="square">
            <a:spAutoFit/>
          </a:bodyPr>
          <a:lstStyle/>
          <a:p>
            <a:pPr algn="l">
              <a:defRPr sz="1400" b="1">
                <a:solidFill>
                  <a:srgbClr val="FFFFFF"/>
                </a:solidFill>
                <a:latin typeface="Segoe UI"/>
              </a:defRPr>
            </a:pPr>
            <a:r>
              <a:t>📊  Distribution</a:t>
            </a:r>
            <a:br/>
            <a:r>
              <a:t>Analysis</a:t>
            </a:r>
          </a:p>
        </p:txBody>
      </p:sp>
      <p:sp>
        <p:nvSpPr>
          <p:cNvPr id="11" name="TextBox 10"/>
          <p:cNvSpPr txBox="1"/>
          <p:nvPr/>
        </p:nvSpPr>
        <p:spPr>
          <a:xfrm>
            <a:off x="1188720" y="2926080"/>
            <a:ext cx="2560320" cy="822960"/>
          </a:xfrm>
          <a:prstGeom prst="rect">
            <a:avLst/>
          </a:prstGeom>
          <a:noFill/>
        </p:spPr>
        <p:txBody>
          <a:bodyPr wrap="square">
            <a:spAutoFit/>
          </a:bodyPr>
          <a:lstStyle/>
          <a:p>
            <a:pPr algn="l">
              <a:defRPr sz="1200" b="0">
                <a:solidFill>
                  <a:srgbClr val="A0A0B8"/>
                </a:solidFill>
                <a:latin typeface="Segoe UI"/>
              </a:defRPr>
            </a:pPr>
            <a:r>
              <a:t>Measure public ARC-AGI-1</a:t>
            </a:r>
            <a:br/>
            <a:r>
              <a:t>evaluation set properties</a:t>
            </a:r>
          </a:p>
        </p:txBody>
      </p:sp>
      <p:sp>
        <p:nvSpPr>
          <p:cNvPr id="12" name="Rounded Rectangle 11"/>
          <p:cNvSpPr/>
          <p:nvPr/>
        </p:nvSpPr>
        <p:spPr>
          <a:xfrm>
            <a:off x="4480560" y="2011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17720" y="2148840"/>
            <a:ext cx="411480" cy="41148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4" name="TextBox 13"/>
          <p:cNvSpPr txBox="1"/>
          <p:nvPr/>
        </p:nvSpPr>
        <p:spPr>
          <a:xfrm>
            <a:off x="5120640" y="2194560"/>
            <a:ext cx="2286000" cy="548640"/>
          </a:xfrm>
          <a:prstGeom prst="rect">
            <a:avLst/>
          </a:prstGeom>
          <a:noFill/>
        </p:spPr>
        <p:txBody>
          <a:bodyPr wrap="square">
            <a:spAutoFit/>
          </a:bodyPr>
          <a:lstStyle/>
          <a:p>
            <a:pPr algn="l">
              <a:defRPr sz="1400" b="1">
                <a:solidFill>
                  <a:srgbClr val="FFFFFF"/>
                </a:solidFill>
                <a:latin typeface="Segoe UI"/>
              </a:defRPr>
            </a:pPr>
            <a:r>
              <a:t>🎲  Joint Constraint</a:t>
            </a:r>
            <a:br/>
            <a:r>
              <a:t>Sampling</a:t>
            </a:r>
          </a:p>
        </p:txBody>
      </p:sp>
      <p:sp>
        <p:nvSpPr>
          <p:cNvPr id="15" name="TextBox 14"/>
          <p:cNvSpPr txBox="1"/>
          <p:nvPr/>
        </p:nvSpPr>
        <p:spPr>
          <a:xfrm>
            <a:off x="4754880" y="2926080"/>
            <a:ext cx="2560320" cy="822960"/>
          </a:xfrm>
          <a:prstGeom prst="rect">
            <a:avLst/>
          </a:prstGeom>
          <a:noFill/>
        </p:spPr>
        <p:txBody>
          <a:bodyPr wrap="square">
            <a:spAutoFit/>
          </a:bodyPr>
          <a:lstStyle/>
          <a:p>
            <a:pPr algn="l">
              <a:defRPr sz="1200" b="0">
                <a:solidFill>
                  <a:srgbClr val="A0A0B8"/>
                </a:solidFill>
                <a:latin typeface="Segoe UI"/>
              </a:defRPr>
            </a:pPr>
            <a:r>
              <a:t>Sample from real eval task</a:t>
            </a:r>
            <a:br/>
            <a:r>
              <a:t>to preserve covariance</a:t>
            </a:r>
          </a:p>
        </p:txBody>
      </p:sp>
      <p:sp>
        <p:nvSpPr>
          <p:cNvPr id="16" name="Rounded Rectangle 15"/>
          <p:cNvSpPr/>
          <p:nvPr/>
        </p:nvSpPr>
        <p:spPr>
          <a:xfrm>
            <a:off x="8046720" y="201168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2148840"/>
            <a:ext cx="411480" cy="41148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18" name="TextBox 17"/>
          <p:cNvSpPr txBox="1"/>
          <p:nvPr/>
        </p:nvSpPr>
        <p:spPr>
          <a:xfrm>
            <a:off x="8686800" y="2194560"/>
            <a:ext cx="2286000" cy="548640"/>
          </a:xfrm>
          <a:prstGeom prst="rect">
            <a:avLst/>
          </a:prstGeom>
          <a:noFill/>
        </p:spPr>
        <p:txBody>
          <a:bodyPr wrap="square">
            <a:spAutoFit/>
          </a:bodyPr>
          <a:lstStyle/>
          <a:p>
            <a:pPr algn="l">
              <a:defRPr sz="1400" b="1">
                <a:solidFill>
                  <a:srgbClr val="FFFFFF"/>
                </a:solidFill>
                <a:latin typeface="Segoe UI"/>
              </a:defRPr>
            </a:pPr>
            <a:r>
              <a:t>🤖  LLM Task</a:t>
            </a:r>
            <a:br/>
            <a:r>
              <a:t>Generation</a:t>
            </a:r>
          </a:p>
        </p:txBody>
      </p:sp>
      <p:sp>
        <p:nvSpPr>
          <p:cNvPr id="19" name="TextBox 18"/>
          <p:cNvSpPr txBox="1"/>
          <p:nvPr/>
        </p:nvSpPr>
        <p:spPr>
          <a:xfrm>
            <a:off x="8321040" y="2926080"/>
            <a:ext cx="2560320" cy="822960"/>
          </a:xfrm>
          <a:prstGeom prst="rect">
            <a:avLst/>
          </a:prstGeom>
          <a:noFill/>
        </p:spPr>
        <p:txBody>
          <a:bodyPr wrap="square">
            <a:spAutoFit/>
          </a:bodyPr>
          <a:lstStyle/>
          <a:p>
            <a:pPr algn="l">
              <a:defRPr sz="1200" b="0">
                <a:solidFill>
                  <a:srgbClr val="A0A0B8"/>
                </a:solidFill>
                <a:latin typeface="Segoe UI"/>
              </a:defRPr>
            </a:pPr>
            <a:r>
              <a:t>Generate new transformation</a:t>
            </a:r>
            <a:br/>
            <a:r>
              <a:t>rule matching constraints</a:t>
            </a:r>
          </a:p>
        </p:txBody>
      </p:sp>
      <p:sp>
        <p:nvSpPr>
          <p:cNvPr id="20" name="Rounded Rectangle 19"/>
          <p:cNvSpPr/>
          <p:nvPr/>
        </p:nvSpPr>
        <p:spPr>
          <a:xfrm>
            <a:off x="914400" y="438912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1560" y="4526280"/>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4</a:t>
            </a:r>
          </a:p>
        </p:txBody>
      </p:sp>
      <p:sp>
        <p:nvSpPr>
          <p:cNvPr id="22" name="TextBox 21"/>
          <p:cNvSpPr txBox="1"/>
          <p:nvPr/>
        </p:nvSpPr>
        <p:spPr>
          <a:xfrm>
            <a:off x="1554480" y="4572000"/>
            <a:ext cx="2286000" cy="548640"/>
          </a:xfrm>
          <a:prstGeom prst="rect">
            <a:avLst/>
          </a:prstGeom>
          <a:noFill/>
        </p:spPr>
        <p:txBody>
          <a:bodyPr wrap="square">
            <a:spAutoFit/>
          </a:bodyPr>
          <a:lstStyle/>
          <a:p>
            <a:pPr algn="l">
              <a:defRPr sz="1400" b="1">
                <a:solidFill>
                  <a:srgbClr val="FFFFFF"/>
                </a:solidFill>
                <a:latin typeface="Segoe UI"/>
              </a:defRPr>
            </a:pPr>
            <a:r>
              <a:t>✅  Structural</a:t>
            </a:r>
            <a:br/>
            <a:r>
              <a:t>Validation</a:t>
            </a:r>
          </a:p>
        </p:txBody>
      </p:sp>
      <p:sp>
        <p:nvSpPr>
          <p:cNvPr id="23" name="TextBox 22"/>
          <p:cNvSpPr txBox="1"/>
          <p:nvPr/>
        </p:nvSpPr>
        <p:spPr>
          <a:xfrm>
            <a:off x="1188720" y="5303520"/>
            <a:ext cx="2560320" cy="822960"/>
          </a:xfrm>
          <a:prstGeom prst="rect">
            <a:avLst/>
          </a:prstGeom>
          <a:noFill/>
        </p:spPr>
        <p:txBody>
          <a:bodyPr wrap="square">
            <a:spAutoFit/>
          </a:bodyPr>
          <a:lstStyle/>
          <a:p>
            <a:pPr algn="l">
              <a:defRPr sz="1200" b="0">
                <a:solidFill>
                  <a:srgbClr val="A0A0B8"/>
                </a:solidFill>
                <a:latin typeface="Segoe UI"/>
              </a:defRPr>
            </a:pPr>
            <a:r>
              <a:t>Verify grids, cell values 0–9,</a:t>
            </a:r>
            <a:br/>
            <a:r>
              <a:t>pair counts</a:t>
            </a:r>
          </a:p>
        </p:txBody>
      </p:sp>
      <p:sp>
        <p:nvSpPr>
          <p:cNvPr id="24" name="Rounded Rectangle 23"/>
          <p:cNvSpPr/>
          <p:nvPr/>
        </p:nvSpPr>
        <p:spPr>
          <a:xfrm>
            <a:off x="4480560" y="438912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617720" y="4526280"/>
            <a:ext cx="411480" cy="4114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5</a:t>
            </a:r>
          </a:p>
        </p:txBody>
      </p:sp>
      <p:sp>
        <p:nvSpPr>
          <p:cNvPr id="26" name="TextBox 25"/>
          <p:cNvSpPr txBox="1"/>
          <p:nvPr/>
        </p:nvSpPr>
        <p:spPr>
          <a:xfrm>
            <a:off x="5120640" y="4572000"/>
            <a:ext cx="2286000" cy="548640"/>
          </a:xfrm>
          <a:prstGeom prst="rect">
            <a:avLst/>
          </a:prstGeom>
          <a:noFill/>
        </p:spPr>
        <p:txBody>
          <a:bodyPr wrap="square">
            <a:spAutoFit/>
          </a:bodyPr>
          <a:lstStyle/>
          <a:p>
            <a:pPr algn="l">
              <a:defRPr sz="1400" b="1">
                <a:solidFill>
                  <a:srgbClr val="FFFFFF"/>
                </a:solidFill>
                <a:latin typeface="Segoe UI"/>
              </a:defRPr>
            </a:pPr>
            <a:r>
              <a:t>🔍  Semantic</a:t>
            </a:r>
            <a:br/>
            <a:r>
              <a:t>Deduplication</a:t>
            </a:r>
          </a:p>
        </p:txBody>
      </p:sp>
      <p:sp>
        <p:nvSpPr>
          <p:cNvPr id="27" name="TextBox 26"/>
          <p:cNvSpPr txBox="1"/>
          <p:nvPr/>
        </p:nvSpPr>
        <p:spPr>
          <a:xfrm>
            <a:off x="4754880" y="5303520"/>
            <a:ext cx="2560320" cy="822960"/>
          </a:xfrm>
          <a:prstGeom prst="rect">
            <a:avLst/>
          </a:prstGeom>
          <a:noFill/>
        </p:spPr>
        <p:txBody>
          <a:bodyPr wrap="square">
            <a:spAutoFit/>
          </a:bodyPr>
          <a:lstStyle/>
          <a:p>
            <a:pPr algn="l">
              <a:defRPr sz="1200" b="0">
                <a:solidFill>
                  <a:srgbClr val="A0A0B8"/>
                </a:solidFill>
                <a:latin typeface="Segoe UI"/>
              </a:defRPr>
            </a:pPr>
            <a:r>
              <a:t>Remove generated tasks</a:t>
            </a:r>
            <a:br/>
            <a:r>
              <a:t>too similar to each other</a:t>
            </a:r>
          </a:p>
        </p:txBody>
      </p:sp>
      <p:sp>
        <p:nvSpPr>
          <p:cNvPr id="28" name="Rounded Rectangle 27"/>
          <p:cNvSpPr/>
          <p:nvPr/>
        </p:nvSpPr>
        <p:spPr>
          <a:xfrm>
            <a:off x="8046720" y="4389120"/>
            <a:ext cx="3108960" cy="192024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83880" y="4526280"/>
            <a:ext cx="411480" cy="41148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6</a:t>
            </a:r>
          </a:p>
        </p:txBody>
      </p:sp>
      <p:sp>
        <p:nvSpPr>
          <p:cNvPr id="30" name="TextBox 29"/>
          <p:cNvSpPr txBox="1"/>
          <p:nvPr/>
        </p:nvSpPr>
        <p:spPr>
          <a:xfrm>
            <a:off x="8686800" y="4572000"/>
            <a:ext cx="2286000" cy="548640"/>
          </a:xfrm>
          <a:prstGeom prst="rect">
            <a:avLst/>
          </a:prstGeom>
          <a:noFill/>
        </p:spPr>
        <p:txBody>
          <a:bodyPr wrap="square">
            <a:spAutoFit/>
          </a:bodyPr>
          <a:lstStyle/>
          <a:p>
            <a:pPr algn="l">
              <a:defRPr sz="1400" b="1">
                <a:solidFill>
                  <a:srgbClr val="FFFFFF"/>
                </a:solidFill>
                <a:latin typeface="Segoe UI"/>
              </a:defRPr>
            </a:pPr>
            <a:r>
              <a:t>🛡️  Public-Eval</a:t>
            </a:r>
            <a:br/>
            <a:r>
              <a:t>Similarity Filter</a:t>
            </a:r>
          </a:p>
        </p:txBody>
      </p:sp>
      <p:sp>
        <p:nvSpPr>
          <p:cNvPr id="31" name="TextBox 30"/>
          <p:cNvSpPr txBox="1"/>
          <p:nvPr/>
        </p:nvSpPr>
        <p:spPr>
          <a:xfrm>
            <a:off x="8321040" y="5303520"/>
            <a:ext cx="2560320" cy="822960"/>
          </a:xfrm>
          <a:prstGeom prst="rect">
            <a:avLst/>
          </a:prstGeom>
          <a:noFill/>
        </p:spPr>
        <p:txBody>
          <a:bodyPr wrap="square">
            <a:spAutoFit/>
          </a:bodyPr>
          <a:lstStyle/>
          <a:p>
            <a:pPr algn="l">
              <a:defRPr sz="1200" b="0">
                <a:solidFill>
                  <a:srgbClr val="A0A0B8"/>
                </a:solidFill>
                <a:latin typeface="Segoe UI"/>
              </a:defRPr>
            </a:pPr>
            <a:r>
              <a:t>Remove tasks too close</a:t>
            </a:r>
            <a:br/>
            <a:r>
              <a:t>to official eval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9601200" y="-1371600"/>
            <a:ext cx="3657600" cy="3657600"/>
          </a:xfrm>
          <a:prstGeom prst="ellipse">
            <a:avLst/>
          </a:prstGeom>
          <a:solidFill>
            <a:srgbClr val="7C3A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5029200"/>
            <a:ext cx="3200400" cy="32004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45720"/>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828800" cy="1371600"/>
          </a:xfrm>
          <a:prstGeom prst="rect">
            <a:avLst/>
          </a:prstGeom>
          <a:noFill/>
        </p:spPr>
        <p:txBody>
          <a:bodyPr wrap="square">
            <a:spAutoFit/>
          </a:bodyPr>
          <a:lstStyle/>
          <a:p>
            <a:pPr algn="l">
              <a:defRPr sz="7200" b="1">
                <a:solidFill>
                  <a:srgbClr val="7C3AED"/>
                </a:solidFill>
                <a:latin typeface="Segoe UI"/>
              </a:defRPr>
            </a:pPr>
            <a:r>
              <a:t>04</a:t>
            </a:r>
          </a:p>
        </p:txBody>
      </p:sp>
      <p:sp>
        <p:nvSpPr>
          <p:cNvPr id="6" name="TextBox 5"/>
          <p:cNvSpPr txBox="1"/>
          <p:nvPr/>
        </p:nvSpPr>
        <p:spPr>
          <a:xfrm>
            <a:off x="1097280" y="548640"/>
            <a:ext cx="4572000" cy="457200"/>
          </a:xfrm>
          <a:prstGeom prst="rect">
            <a:avLst/>
          </a:prstGeom>
          <a:noFill/>
        </p:spPr>
        <p:txBody>
          <a:bodyPr wrap="square">
            <a:spAutoFit/>
          </a:bodyPr>
          <a:lstStyle/>
          <a:p>
            <a:pPr algn="l">
              <a:defRPr sz="1300" b="1">
                <a:solidFill>
                  <a:srgbClr val="06B6D4"/>
                </a:solidFill>
                <a:latin typeface="Segoe UI"/>
              </a:defRPr>
            </a:pPr>
            <a:r>
              <a:t>BDH-CQ &amp; SCIENTIFIC GROUNDING</a:t>
            </a:r>
          </a:p>
        </p:txBody>
      </p:sp>
      <p:sp>
        <p:nvSpPr>
          <p:cNvPr id="7" name="TextBox 6"/>
          <p:cNvSpPr txBox="1"/>
          <p:nvPr/>
        </p:nvSpPr>
        <p:spPr>
          <a:xfrm>
            <a:off x="1097280" y="1005840"/>
            <a:ext cx="9144000" cy="731520"/>
          </a:xfrm>
          <a:prstGeom prst="rect">
            <a:avLst/>
          </a:prstGeom>
          <a:noFill/>
        </p:spPr>
        <p:txBody>
          <a:bodyPr wrap="square">
            <a:spAutoFit/>
          </a:bodyPr>
          <a:lstStyle/>
          <a:p>
            <a:pPr algn="l">
              <a:defRPr sz="3600" b="1">
                <a:solidFill>
                  <a:srgbClr val="FFFFFF"/>
                </a:solidFill>
                <a:latin typeface="Segoe UI"/>
              </a:defRPr>
            </a:pPr>
            <a:r>
              <a:t>BDH-CQ Connection &amp; Literature</a:t>
            </a:r>
          </a:p>
        </p:txBody>
      </p:sp>
      <p:sp>
        <p:nvSpPr>
          <p:cNvPr id="8" name="Rounded Rectangle 7"/>
          <p:cNvSpPr/>
          <p:nvPr/>
        </p:nvSpPr>
        <p:spPr>
          <a:xfrm>
            <a:off x="1097280" y="1920240"/>
            <a:ext cx="2286000" cy="16459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80160" y="2057400"/>
            <a:ext cx="1920240" cy="36576"/>
          </a:xfrm>
          <a:prstGeom prst="rect">
            <a:avLst/>
          </a:prstGeom>
          <a:gradFill rotWithShape="1">
            <a:gsLst>
              <a:gs pos="0">
                <a:srgbClr val="06B6D4"/>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240280"/>
            <a:ext cx="1737360" cy="640080"/>
          </a:xfrm>
          <a:prstGeom prst="rect">
            <a:avLst/>
          </a:prstGeom>
          <a:noFill/>
        </p:spPr>
        <p:txBody>
          <a:bodyPr wrap="square">
            <a:spAutoFit/>
          </a:bodyPr>
          <a:lstStyle/>
          <a:p>
            <a:pPr algn="ctr">
              <a:defRPr sz="3200" b="1">
                <a:solidFill>
                  <a:srgbClr val="FFFFFF"/>
                </a:solidFill>
                <a:latin typeface="Segoe UI"/>
              </a:defRPr>
            </a:pPr>
            <a:r>
              <a:t>29.5%</a:t>
            </a:r>
          </a:p>
        </p:txBody>
      </p:sp>
      <p:sp>
        <p:nvSpPr>
          <p:cNvPr id="11" name="TextBox 10"/>
          <p:cNvSpPr txBox="1"/>
          <p:nvPr/>
        </p:nvSpPr>
        <p:spPr>
          <a:xfrm>
            <a:off x="1371600" y="2880360"/>
            <a:ext cx="1737360" cy="548640"/>
          </a:xfrm>
          <a:prstGeom prst="rect">
            <a:avLst/>
          </a:prstGeom>
          <a:noFill/>
        </p:spPr>
        <p:txBody>
          <a:bodyPr wrap="square">
            <a:spAutoFit/>
          </a:bodyPr>
          <a:lstStyle/>
          <a:p>
            <a:pPr algn="ctr">
              <a:defRPr sz="1300" b="0">
                <a:solidFill>
                  <a:srgbClr val="A0A0B8"/>
                </a:solidFill>
                <a:latin typeface="Segoe UI"/>
              </a:defRPr>
            </a:pPr>
            <a:r>
              <a:t>pass@2 on</a:t>
            </a:r>
            <a:br/>
            <a:r>
              <a:t>ARC-AGI-1</a:t>
            </a:r>
          </a:p>
        </p:txBody>
      </p:sp>
      <p:sp>
        <p:nvSpPr>
          <p:cNvPr id="12" name="Rounded Rectangle 11"/>
          <p:cNvSpPr/>
          <p:nvPr/>
        </p:nvSpPr>
        <p:spPr>
          <a:xfrm>
            <a:off x="3657600" y="1920240"/>
            <a:ext cx="2286000" cy="16459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0" y="2057400"/>
            <a:ext cx="1920240" cy="36576"/>
          </a:xfrm>
          <a:prstGeom prst="rect">
            <a:avLst/>
          </a:prstGeom>
          <a:gradFill rotWithShape="1">
            <a:gsLst>
              <a:gs pos="0">
                <a:srgbClr val="7C3AED"/>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0" y="2240280"/>
            <a:ext cx="1737360" cy="640080"/>
          </a:xfrm>
          <a:prstGeom prst="rect">
            <a:avLst/>
          </a:prstGeom>
          <a:noFill/>
        </p:spPr>
        <p:txBody>
          <a:bodyPr wrap="square">
            <a:spAutoFit/>
          </a:bodyPr>
          <a:lstStyle/>
          <a:p>
            <a:pPr algn="ctr">
              <a:defRPr sz="3200" b="1">
                <a:solidFill>
                  <a:srgbClr val="FFFFFF"/>
                </a:solidFill>
                <a:latin typeface="Segoe UI"/>
              </a:defRPr>
            </a:pPr>
            <a:r>
              <a:t>$0.0007</a:t>
            </a:r>
          </a:p>
        </p:txBody>
      </p:sp>
      <p:sp>
        <p:nvSpPr>
          <p:cNvPr id="15" name="TextBox 14"/>
          <p:cNvSpPr txBox="1"/>
          <p:nvPr/>
        </p:nvSpPr>
        <p:spPr>
          <a:xfrm>
            <a:off x="3931920" y="2880360"/>
            <a:ext cx="1737360" cy="548640"/>
          </a:xfrm>
          <a:prstGeom prst="rect">
            <a:avLst/>
          </a:prstGeom>
          <a:noFill/>
        </p:spPr>
        <p:txBody>
          <a:bodyPr wrap="square">
            <a:spAutoFit/>
          </a:bodyPr>
          <a:lstStyle/>
          <a:p>
            <a:pPr algn="ctr">
              <a:defRPr sz="1300" b="0">
                <a:solidFill>
                  <a:srgbClr val="A0A0B8"/>
                </a:solidFill>
                <a:latin typeface="Segoe UI"/>
              </a:defRPr>
            </a:pPr>
            <a:r>
              <a:t>per task</a:t>
            </a:r>
            <a:br/>
            <a:r>
              <a:t>cost</a:t>
            </a:r>
          </a:p>
        </p:txBody>
      </p:sp>
      <p:sp>
        <p:nvSpPr>
          <p:cNvPr id="16" name="Rounded Rectangle 15"/>
          <p:cNvSpPr/>
          <p:nvPr/>
        </p:nvSpPr>
        <p:spPr>
          <a:xfrm>
            <a:off x="6217920" y="1920240"/>
            <a:ext cx="2286000" cy="16459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2057400"/>
            <a:ext cx="1920240" cy="36576"/>
          </a:xfrm>
          <a:prstGeom prst="rect">
            <a:avLst/>
          </a:prstGeom>
          <a:gradFill rotWithShape="1">
            <a:gsLst>
              <a:gs pos="0">
                <a:srgbClr val="EC4899"/>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240280"/>
            <a:ext cx="1737360" cy="640080"/>
          </a:xfrm>
          <a:prstGeom prst="rect">
            <a:avLst/>
          </a:prstGeom>
          <a:noFill/>
        </p:spPr>
        <p:txBody>
          <a:bodyPr wrap="square">
            <a:spAutoFit/>
          </a:bodyPr>
          <a:lstStyle/>
          <a:p>
            <a:pPr algn="ctr">
              <a:defRPr sz="3200" b="1">
                <a:solidFill>
                  <a:srgbClr val="FFFFFF"/>
                </a:solidFill>
                <a:latin typeface="Segoe UI"/>
              </a:defRPr>
            </a:pPr>
            <a:r>
              <a:t>150M</a:t>
            </a:r>
          </a:p>
        </p:txBody>
      </p:sp>
      <p:sp>
        <p:nvSpPr>
          <p:cNvPr id="19" name="TextBox 18"/>
          <p:cNvSpPr txBox="1"/>
          <p:nvPr/>
        </p:nvSpPr>
        <p:spPr>
          <a:xfrm>
            <a:off x="6492240" y="2880360"/>
            <a:ext cx="1737360" cy="548640"/>
          </a:xfrm>
          <a:prstGeom prst="rect">
            <a:avLst/>
          </a:prstGeom>
          <a:noFill/>
        </p:spPr>
        <p:txBody>
          <a:bodyPr wrap="square">
            <a:spAutoFit/>
          </a:bodyPr>
          <a:lstStyle/>
          <a:p>
            <a:pPr algn="ctr">
              <a:defRPr sz="1300" b="0">
                <a:solidFill>
                  <a:srgbClr val="A0A0B8"/>
                </a:solidFill>
                <a:latin typeface="Segoe UI"/>
              </a:defRPr>
            </a:pPr>
            <a:r>
              <a:t>parameters</a:t>
            </a:r>
            <a:br/>
            <a:r>
              <a:t>(compact)</a:t>
            </a:r>
          </a:p>
        </p:txBody>
      </p:sp>
      <p:sp>
        <p:nvSpPr>
          <p:cNvPr id="20" name="Rounded Rectangle 19"/>
          <p:cNvSpPr/>
          <p:nvPr/>
        </p:nvSpPr>
        <p:spPr>
          <a:xfrm>
            <a:off x="8778240" y="1920240"/>
            <a:ext cx="2286000" cy="16459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61120" y="2057400"/>
            <a:ext cx="1920240" cy="36576"/>
          </a:xfrm>
          <a:prstGeom prst="rect">
            <a:avLst/>
          </a:prstGeom>
          <a:gradFill rotWithShape="1">
            <a:gsLst>
              <a:gs pos="0">
                <a:srgbClr val="10B981"/>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2240280"/>
            <a:ext cx="1737360" cy="640080"/>
          </a:xfrm>
          <a:prstGeom prst="rect">
            <a:avLst/>
          </a:prstGeom>
          <a:noFill/>
        </p:spPr>
        <p:txBody>
          <a:bodyPr wrap="square">
            <a:spAutoFit/>
          </a:bodyPr>
          <a:lstStyle/>
          <a:p>
            <a:pPr algn="ctr">
              <a:defRPr sz="3200" b="1">
                <a:solidFill>
                  <a:srgbClr val="FFFFFF"/>
                </a:solidFill>
                <a:latin typeface="Segoe UI"/>
              </a:defRPr>
            </a:pPr>
            <a:r>
              <a:t>∇W = 0</a:t>
            </a:r>
          </a:p>
        </p:txBody>
      </p:sp>
      <p:sp>
        <p:nvSpPr>
          <p:cNvPr id="23" name="TextBox 22"/>
          <p:cNvSpPr txBox="1"/>
          <p:nvPr/>
        </p:nvSpPr>
        <p:spPr>
          <a:xfrm>
            <a:off x="9052560" y="2880360"/>
            <a:ext cx="1737360" cy="548640"/>
          </a:xfrm>
          <a:prstGeom prst="rect">
            <a:avLst/>
          </a:prstGeom>
          <a:noFill/>
        </p:spPr>
        <p:txBody>
          <a:bodyPr wrap="square">
            <a:spAutoFit/>
          </a:bodyPr>
          <a:lstStyle/>
          <a:p>
            <a:pPr algn="ctr">
              <a:defRPr sz="1300" b="0">
                <a:solidFill>
                  <a:srgbClr val="A0A0B8"/>
                </a:solidFill>
                <a:latin typeface="Segoe UI"/>
              </a:defRPr>
            </a:pPr>
            <a:r>
              <a:t>zero test-time</a:t>
            </a:r>
            <a:br/>
            <a:r>
              <a:t>parameter updates</a:t>
            </a:r>
          </a:p>
        </p:txBody>
      </p:sp>
      <p:sp>
        <p:nvSpPr>
          <p:cNvPr id="24" name="Rounded Rectangle 23"/>
          <p:cNvSpPr/>
          <p:nvPr/>
        </p:nvSpPr>
        <p:spPr>
          <a:xfrm>
            <a:off x="1097280" y="3840480"/>
            <a:ext cx="10058400" cy="91440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97280" y="3840480"/>
            <a:ext cx="54864" cy="914400"/>
          </a:xfrm>
          <a:prstGeom prst="rect">
            <a:avLst/>
          </a:prstGeom>
          <a:gradFill rotWithShape="1">
            <a:gsLst>
              <a:gs pos="0">
                <a:srgbClr val="10B981"/>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3977639"/>
            <a:ext cx="9144000" cy="640080"/>
          </a:xfrm>
          <a:prstGeom prst="rect">
            <a:avLst/>
          </a:prstGeom>
          <a:noFill/>
        </p:spPr>
        <p:txBody>
          <a:bodyPr wrap="square">
            <a:spAutoFit/>
          </a:bodyPr>
          <a:lstStyle/>
          <a:p>
            <a:pPr algn="l">
              <a:defRPr sz="1400" b="0">
                <a:solidFill>
                  <a:srgbClr val="A0A0B8"/>
                </a:solidFill>
                <a:latin typeface="Segoe UI"/>
              </a:defRPr>
            </a:pPr>
            <a:r>
              <a:t>BDH-CQ uses forward-pass recurrent state accumulation — no backpropagation or parameter updates at inference time. This contrasts with optimization-based test-time training (TTT) approaches.</a:t>
            </a:r>
          </a:p>
        </p:txBody>
      </p:sp>
      <p:sp>
        <p:nvSpPr>
          <p:cNvPr id="27" name="Rounded Rectangle 26"/>
          <p:cNvSpPr/>
          <p:nvPr/>
        </p:nvSpPr>
        <p:spPr>
          <a:xfrm>
            <a:off x="1097280" y="5029200"/>
            <a:ext cx="4754880" cy="82296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7280" y="5029200"/>
            <a:ext cx="54864" cy="822960"/>
          </a:xfrm>
          <a:prstGeom prst="rect">
            <a:avLst/>
          </a:prstGeom>
          <a:gradFill rotWithShape="1">
            <a:gsLst>
              <a:gs pos="0">
                <a:srgbClr val="06B6D4"/>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600" y="5102352"/>
            <a:ext cx="4389120" cy="320040"/>
          </a:xfrm>
          <a:prstGeom prst="rect">
            <a:avLst/>
          </a:prstGeom>
          <a:noFill/>
        </p:spPr>
        <p:txBody>
          <a:bodyPr wrap="square">
            <a:spAutoFit/>
          </a:bodyPr>
          <a:lstStyle/>
          <a:p>
            <a:pPr algn="l">
              <a:defRPr sz="1100" b="1">
                <a:solidFill>
                  <a:srgbClr val="06B6D4"/>
                </a:solidFill>
                <a:latin typeface="Segoe UI"/>
              </a:defRPr>
            </a:pPr>
            <a:r>
              <a:t>Engdahl et al. (2026) — arXiv:2608.09888</a:t>
            </a:r>
          </a:p>
        </p:txBody>
      </p:sp>
      <p:sp>
        <p:nvSpPr>
          <p:cNvPr id="30" name="TextBox 29"/>
          <p:cNvSpPr txBox="1"/>
          <p:nvPr/>
        </p:nvSpPr>
        <p:spPr>
          <a:xfrm>
            <a:off x="1371600" y="5413248"/>
            <a:ext cx="4389120" cy="365760"/>
          </a:xfrm>
          <a:prstGeom prst="rect">
            <a:avLst/>
          </a:prstGeom>
          <a:noFill/>
        </p:spPr>
        <p:txBody>
          <a:bodyPr wrap="square">
            <a:spAutoFit/>
          </a:bodyPr>
          <a:lstStyle/>
          <a:p>
            <a:pPr algn="l">
              <a:defRPr sz="1100" b="0">
                <a:solidFill>
                  <a:srgbClr val="A0A0B8"/>
                </a:solidFill>
                <a:latin typeface="Segoe UI"/>
              </a:defRPr>
            </a:pPr>
            <a:r>
              <a:t>BDH-CQ: In-Context Learning</a:t>
            </a:r>
            <a:br/>
            <a:r>
              <a:t>with Recurrent Latent Reasoning</a:t>
            </a:r>
          </a:p>
        </p:txBody>
      </p:sp>
      <p:sp>
        <p:nvSpPr>
          <p:cNvPr id="31" name="Rounded Rectangle 30"/>
          <p:cNvSpPr/>
          <p:nvPr/>
        </p:nvSpPr>
        <p:spPr>
          <a:xfrm>
            <a:off x="6217920" y="5029200"/>
            <a:ext cx="4754880" cy="82296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5029200"/>
            <a:ext cx="54864" cy="822960"/>
          </a:xfrm>
          <a:prstGeom prst="rect">
            <a:avLst/>
          </a:prstGeom>
          <a:gradFill rotWithShape="1">
            <a:gsLst>
              <a:gs pos="0">
                <a:srgbClr val="7C3AED"/>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5102352"/>
            <a:ext cx="4389120" cy="320040"/>
          </a:xfrm>
          <a:prstGeom prst="rect">
            <a:avLst/>
          </a:prstGeom>
          <a:noFill/>
        </p:spPr>
        <p:txBody>
          <a:bodyPr wrap="square">
            <a:spAutoFit/>
          </a:bodyPr>
          <a:lstStyle/>
          <a:p>
            <a:pPr algn="l">
              <a:defRPr sz="1100" b="1">
                <a:solidFill>
                  <a:srgbClr val="7C3AED"/>
                </a:solidFill>
                <a:latin typeface="Segoe UI"/>
              </a:defRPr>
            </a:pPr>
            <a:r>
              <a:t>Bordes et al. (2024) — arXiv:2407.00645</a:t>
            </a:r>
          </a:p>
        </p:txBody>
      </p:sp>
      <p:sp>
        <p:nvSpPr>
          <p:cNvPr id="34" name="TextBox 33"/>
          <p:cNvSpPr txBox="1"/>
          <p:nvPr/>
        </p:nvSpPr>
        <p:spPr>
          <a:xfrm>
            <a:off x="6492240" y="5413248"/>
            <a:ext cx="4389120" cy="365760"/>
          </a:xfrm>
          <a:prstGeom prst="rect">
            <a:avLst/>
          </a:prstGeom>
          <a:noFill/>
        </p:spPr>
        <p:txBody>
          <a:bodyPr wrap="square">
            <a:spAutoFit/>
          </a:bodyPr>
          <a:lstStyle/>
          <a:p>
            <a:pPr algn="l">
              <a:defRPr sz="1100" b="0">
                <a:solidFill>
                  <a:srgbClr val="A0A0B8"/>
                </a:solidFill>
                <a:latin typeface="Segoe UI"/>
              </a:defRPr>
            </a:pPr>
            <a:r>
              <a:t>Gemini's ARC-AGI Capabilities</a:t>
            </a:r>
            <a:br/>
            <a:r>
              <a:t>&amp; Contamination</a:t>
            </a:r>
          </a:p>
        </p:txBody>
      </p:sp>
      <p:sp>
        <p:nvSpPr>
          <p:cNvPr id="35" name="Rounded Rectangle 34"/>
          <p:cNvSpPr/>
          <p:nvPr/>
        </p:nvSpPr>
        <p:spPr>
          <a:xfrm>
            <a:off x="1097280" y="6035040"/>
            <a:ext cx="4754880" cy="82296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97280" y="6035040"/>
            <a:ext cx="54864" cy="822960"/>
          </a:xfrm>
          <a:prstGeom prst="rect">
            <a:avLst/>
          </a:prstGeom>
          <a:gradFill rotWithShape="1">
            <a:gsLst>
              <a:gs pos="0">
                <a:srgbClr val="EC4899"/>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71600" y="6108192"/>
            <a:ext cx="4389120" cy="320040"/>
          </a:xfrm>
          <a:prstGeom prst="rect">
            <a:avLst/>
          </a:prstGeom>
          <a:noFill/>
        </p:spPr>
        <p:txBody>
          <a:bodyPr wrap="square">
            <a:spAutoFit/>
          </a:bodyPr>
          <a:lstStyle/>
          <a:p>
            <a:pPr algn="l">
              <a:defRPr sz="1100" b="1">
                <a:solidFill>
                  <a:srgbClr val="EC4899"/>
                </a:solidFill>
                <a:latin typeface="Segoe UI"/>
              </a:defRPr>
            </a:pPr>
            <a:r>
              <a:t>Akyürek et al. (2024) — arXiv:2411.07279</a:t>
            </a:r>
          </a:p>
        </p:txBody>
      </p:sp>
      <p:sp>
        <p:nvSpPr>
          <p:cNvPr id="38" name="TextBox 37"/>
          <p:cNvSpPr txBox="1"/>
          <p:nvPr/>
        </p:nvSpPr>
        <p:spPr>
          <a:xfrm>
            <a:off x="1371600" y="6419088"/>
            <a:ext cx="4389120" cy="365760"/>
          </a:xfrm>
          <a:prstGeom prst="rect">
            <a:avLst/>
          </a:prstGeom>
          <a:noFill/>
        </p:spPr>
        <p:txBody>
          <a:bodyPr wrap="square">
            <a:spAutoFit/>
          </a:bodyPr>
          <a:lstStyle/>
          <a:p>
            <a:pPr algn="l">
              <a:defRPr sz="1100" b="0">
                <a:solidFill>
                  <a:srgbClr val="A0A0B8"/>
                </a:solidFill>
                <a:latin typeface="Segoe UI"/>
              </a:defRPr>
            </a:pPr>
            <a:r>
              <a:t>Surprising Effectiveness of</a:t>
            </a:r>
            <a:br/>
            <a:r>
              <a:t>Test-Time Training for ARC</a:t>
            </a:r>
          </a:p>
        </p:txBody>
      </p:sp>
      <p:sp>
        <p:nvSpPr>
          <p:cNvPr id="39" name="Rounded Rectangle 38"/>
          <p:cNvSpPr/>
          <p:nvPr/>
        </p:nvSpPr>
        <p:spPr>
          <a:xfrm>
            <a:off x="6217920" y="6035040"/>
            <a:ext cx="4754880" cy="82296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6035040"/>
            <a:ext cx="54864" cy="822960"/>
          </a:xfrm>
          <a:prstGeom prst="rect">
            <a:avLst/>
          </a:prstGeom>
          <a:gradFill rotWithShape="1">
            <a:gsLst>
              <a:gs pos="0">
                <a:srgbClr val="F59E0B"/>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92240" y="6108192"/>
            <a:ext cx="4389120" cy="320040"/>
          </a:xfrm>
          <a:prstGeom prst="rect">
            <a:avLst/>
          </a:prstGeom>
          <a:noFill/>
        </p:spPr>
        <p:txBody>
          <a:bodyPr wrap="square">
            <a:spAutoFit/>
          </a:bodyPr>
          <a:lstStyle/>
          <a:p>
            <a:pPr algn="l">
              <a:defRPr sz="1100" b="1">
                <a:solidFill>
                  <a:srgbClr val="F59E0B"/>
                </a:solidFill>
                <a:latin typeface="Segoe UI"/>
              </a:defRPr>
            </a:pPr>
            <a:r>
              <a:t>Chollet (2019) — arXiv:1911.01547 (foundational)</a:t>
            </a:r>
          </a:p>
        </p:txBody>
      </p:sp>
      <p:sp>
        <p:nvSpPr>
          <p:cNvPr id="42" name="TextBox 41"/>
          <p:cNvSpPr txBox="1"/>
          <p:nvPr/>
        </p:nvSpPr>
        <p:spPr>
          <a:xfrm>
            <a:off x="6492240" y="6419088"/>
            <a:ext cx="4389120" cy="365760"/>
          </a:xfrm>
          <a:prstGeom prst="rect">
            <a:avLst/>
          </a:prstGeom>
          <a:noFill/>
        </p:spPr>
        <p:txBody>
          <a:bodyPr wrap="square">
            <a:spAutoFit/>
          </a:bodyPr>
          <a:lstStyle/>
          <a:p>
            <a:pPr algn="l">
              <a:defRPr sz="1100" b="0">
                <a:solidFill>
                  <a:srgbClr val="A0A0B8"/>
                </a:solidFill>
                <a:latin typeface="Segoe UI"/>
              </a:defRPr>
            </a:pPr>
            <a:r>
              <a:t>On the Measure</a:t>
            </a:r>
            <a:br/>
            <a:r>
              <a:t>of Intelligence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9601200" y="-1371600"/>
            <a:ext cx="3657600" cy="3657600"/>
          </a:xfrm>
          <a:prstGeom prst="ellipse">
            <a:avLst/>
          </a:prstGeom>
          <a:solidFill>
            <a:srgbClr val="7C3A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5029200"/>
            <a:ext cx="3200400" cy="32004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45720"/>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828800" cy="1371600"/>
          </a:xfrm>
          <a:prstGeom prst="rect">
            <a:avLst/>
          </a:prstGeom>
          <a:noFill/>
        </p:spPr>
        <p:txBody>
          <a:bodyPr wrap="square">
            <a:spAutoFit/>
          </a:bodyPr>
          <a:lstStyle/>
          <a:p>
            <a:pPr algn="l">
              <a:defRPr sz="7200" b="1">
                <a:solidFill>
                  <a:srgbClr val="7C3AED"/>
                </a:solidFill>
                <a:latin typeface="Segoe UI"/>
              </a:defRPr>
            </a:pPr>
            <a:r>
              <a:t>05</a:t>
            </a:r>
          </a:p>
        </p:txBody>
      </p:sp>
      <p:sp>
        <p:nvSpPr>
          <p:cNvPr id="6" name="TextBox 5"/>
          <p:cNvSpPr txBox="1"/>
          <p:nvPr/>
        </p:nvSpPr>
        <p:spPr>
          <a:xfrm>
            <a:off x="1097280" y="548640"/>
            <a:ext cx="4572000" cy="457200"/>
          </a:xfrm>
          <a:prstGeom prst="rect">
            <a:avLst/>
          </a:prstGeom>
          <a:noFill/>
        </p:spPr>
        <p:txBody>
          <a:bodyPr wrap="square">
            <a:spAutoFit/>
          </a:bodyPr>
          <a:lstStyle/>
          <a:p>
            <a:pPr algn="l">
              <a:defRPr sz="1300" b="1">
                <a:solidFill>
                  <a:srgbClr val="06B6D4"/>
                </a:solidFill>
                <a:latin typeface="Segoe UI"/>
              </a:defRPr>
            </a:pPr>
            <a:r>
              <a:t>DATA MODES &amp; EVIDENCE</a:t>
            </a:r>
          </a:p>
        </p:txBody>
      </p:sp>
      <p:sp>
        <p:nvSpPr>
          <p:cNvPr id="7" name="TextBox 6"/>
          <p:cNvSpPr txBox="1"/>
          <p:nvPr/>
        </p:nvSpPr>
        <p:spPr>
          <a:xfrm>
            <a:off x="1097280" y="1005840"/>
            <a:ext cx="9144000" cy="731520"/>
          </a:xfrm>
          <a:prstGeom prst="rect">
            <a:avLst/>
          </a:prstGeom>
          <a:noFill/>
        </p:spPr>
        <p:txBody>
          <a:bodyPr wrap="square">
            <a:spAutoFit/>
          </a:bodyPr>
          <a:lstStyle/>
          <a:p>
            <a:pPr algn="l">
              <a:defRPr sz="3600" b="1">
                <a:solidFill>
                  <a:srgbClr val="FFFFFF"/>
                </a:solidFill>
                <a:latin typeface="Segoe UI"/>
              </a:defRPr>
            </a:pPr>
            <a:r>
              <a:t>Three Data Modes &amp; Evidence Taxonomy</a:t>
            </a:r>
          </a:p>
        </p:txBody>
      </p:sp>
      <p:sp>
        <p:nvSpPr>
          <p:cNvPr id="8" name="Rounded Rectangle 7"/>
          <p:cNvSpPr/>
          <p:nvPr/>
        </p:nvSpPr>
        <p:spPr>
          <a:xfrm>
            <a:off x="914400" y="2011680"/>
            <a:ext cx="3108960" cy="21031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21408"/>
            <a:ext cx="1371600" cy="36576"/>
          </a:xfrm>
          <a:prstGeom prst="rect">
            <a:avLst/>
          </a:prstGeom>
          <a:gradFill rotWithShape="1">
            <a:gsLst>
              <a:gs pos="0">
                <a:srgbClr val="06B6D4"/>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286000"/>
            <a:ext cx="2560320" cy="457200"/>
          </a:xfrm>
          <a:prstGeom prst="rect">
            <a:avLst/>
          </a:prstGeom>
          <a:noFill/>
        </p:spPr>
        <p:txBody>
          <a:bodyPr wrap="square">
            <a:spAutoFit/>
          </a:bodyPr>
          <a:lstStyle/>
          <a:p>
            <a:pPr algn="l">
              <a:defRPr sz="1800" b="1">
                <a:solidFill>
                  <a:srgbClr val="FFFFFF"/>
                </a:solidFill>
                <a:latin typeface="Segoe UI"/>
              </a:defRPr>
            </a:pPr>
            <a:r>
              <a:t>🎓  DEMO Mode</a:t>
            </a:r>
          </a:p>
        </p:txBody>
      </p:sp>
      <p:sp>
        <p:nvSpPr>
          <p:cNvPr id="11" name="TextBox 10"/>
          <p:cNvSpPr txBox="1"/>
          <p:nvPr/>
        </p:nvSpPr>
        <p:spPr>
          <a:xfrm>
            <a:off x="1188720" y="2788920"/>
            <a:ext cx="2560320" cy="731520"/>
          </a:xfrm>
          <a:prstGeom prst="rect">
            <a:avLst/>
          </a:prstGeom>
          <a:noFill/>
        </p:spPr>
        <p:txBody>
          <a:bodyPr wrap="square">
            <a:spAutoFit/>
          </a:bodyPr>
          <a:lstStyle/>
          <a:p>
            <a:pPr algn="l">
              <a:defRPr sz="1300" b="0">
                <a:solidFill>
                  <a:srgbClr val="A0A0B8"/>
                </a:solidFill>
                <a:latin typeface="Segoe UI"/>
              </a:defRPr>
            </a:pPr>
            <a:r>
              <a:t>Hand-crafted tutorial tasks</a:t>
            </a:r>
            <a:br/>
            <a:r>
              <a:t>(DEMO-001 through DEMO-003)</a:t>
            </a:r>
          </a:p>
        </p:txBody>
      </p:sp>
      <p:sp>
        <p:nvSpPr>
          <p:cNvPr id="12" name="Rounded Rectangle 11"/>
          <p:cNvSpPr/>
          <p:nvPr/>
        </p:nvSpPr>
        <p:spPr>
          <a:xfrm>
            <a:off x="1188720" y="3566160"/>
            <a:ext cx="2011680" cy="320040"/>
          </a:xfrm>
          <a:prstGeom prst="roundRect">
            <a:avLst/>
          </a:prstGeom>
          <a:solidFill>
            <a:srgbClr val="16162A"/>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3593592"/>
            <a:ext cx="1645920" cy="274320"/>
          </a:xfrm>
          <a:prstGeom prst="rect">
            <a:avLst/>
          </a:prstGeom>
          <a:noFill/>
        </p:spPr>
        <p:txBody>
          <a:bodyPr wrap="square">
            <a:spAutoFit/>
          </a:bodyPr>
          <a:lstStyle/>
          <a:p>
            <a:pPr algn="ctr">
              <a:defRPr sz="1000" b="1">
                <a:solidFill>
                  <a:srgbClr val="06B6D4"/>
                </a:solidFill>
                <a:latin typeface="Segoe UI"/>
              </a:defRPr>
            </a:pPr>
            <a:r>
              <a:t>No API required</a:t>
            </a:r>
          </a:p>
        </p:txBody>
      </p:sp>
      <p:sp>
        <p:nvSpPr>
          <p:cNvPr id="14" name="Rounded Rectangle 13"/>
          <p:cNvSpPr/>
          <p:nvPr/>
        </p:nvSpPr>
        <p:spPr>
          <a:xfrm>
            <a:off x="4480560" y="2011680"/>
            <a:ext cx="3108960" cy="21031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63440" y="2121408"/>
            <a:ext cx="1371600" cy="36576"/>
          </a:xfrm>
          <a:prstGeom prst="rect">
            <a:avLst/>
          </a:prstGeom>
          <a:gradFill rotWithShape="1">
            <a:gsLst>
              <a:gs pos="0">
                <a:srgbClr val="7C3AED"/>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286000"/>
            <a:ext cx="2560320" cy="457200"/>
          </a:xfrm>
          <a:prstGeom prst="rect">
            <a:avLst/>
          </a:prstGeom>
          <a:noFill/>
        </p:spPr>
        <p:txBody>
          <a:bodyPr wrap="square">
            <a:spAutoFit/>
          </a:bodyPr>
          <a:lstStyle/>
          <a:p>
            <a:pPr algn="l">
              <a:defRPr sz="1800" b="1">
                <a:solidFill>
                  <a:srgbClr val="FFFFFF"/>
                </a:solidFill>
                <a:latin typeface="Segoe UI"/>
              </a:defRPr>
            </a:pPr>
            <a:r>
              <a:t>📂  PUBLIC Mode</a:t>
            </a:r>
          </a:p>
        </p:txBody>
      </p:sp>
      <p:sp>
        <p:nvSpPr>
          <p:cNvPr id="17" name="TextBox 16"/>
          <p:cNvSpPr txBox="1"/>
          <p:nvPr/>
        </p:nvSpPr>
        <p:spPr>
          <a:xfrm>
            <a:off x="4754880" y="2788920"/>
            <a:ext cx="2560320" cy="731520"/>
          </a:xfrm>
          <a:prstGeom prst="rect">
            <a:avLst/>
          </a:prstGeom>
          <a:noFill/>
        </p:spPr>
        <p:txBody>
          <a:bodyPr wrap="square">
            <a:spAutoFit/>
          </a:bodyPr>
          <a:lstStyle/>
          <a:p>
            <a:pPr algn="l">
              <a:defRPr sz="1300" b="0">
                <a:solidFill>
                  <a:srgbClr val="A0A0B8"/>
                </a:solidFill>
                <a:latin typeface="Segoe UI"/>
              </a:defRPr>
            </a:pPr>
            <a:r>
              <a:t>ARC-AGI-1 evaluation set</a:t>
            </a:r>
            <a:br/>
            <a:r>
              <a:t>(400 tasks)</a:t>
            </a:r>
          </a:p>
        </p:txBody>
      </p:sp>
      <p:sp>
        <p:nvSpPr>
          <p:cNvPr id="18" name="Rounded Rectangle 17"/>
          <p:cNvSpPr/>
          <p:nvPr/>
        </p:nvSpPr>
        <p:spPr>
          <a:xfrm>
            <a:off x="4754880" y="3566160"/>
            <a:ext cx="2011680" cy="320040"/>
          </a:xfrm>
          <a:prstGeom prst="roundRect">
            <a:avLst/>
          </a:prstGeom>
          <a:solidFill>
            <a:srgbClr val="16162A"/>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0" y="3593592"/>
            <a:ext cx="1645920" cy="274320"/>
          </a:xfrm>
          <a:prstGeom prst="rect">
            <a:avLst/>
          </a:prstGeom>
          <a:noFill/>
        </p:spPr>
        <p:txBody>
          <a:bodyPr wrap="square">
            <a:spAutoFit/>
          </a:bodyPr>
          <a:lstStyle/>
          <a:p>
            <a:pPr algn="ctr">
              <a:defRPr sz="1000" b="1">
                <a:solidFill>
                  <a:srgbClr val="7C3AED"/>
                </a:solidFill>
                <a:latin typeface="Segoe UI"/>
              </a:defRPr>
            </a:pPr>
            <a:r>
              <a:t>Backend required</a:t>
            </a:r>
          </a:p>
        </p:txBody>
      </p:sp>
      <p:sp>
        <p:nvSpPr>
          <p:cNvPr id="20" name="Rounded Rectangle 19"/>
          <p:cNvSpPr/>
          <p:nvPr/>
        </p:nvSpPr>
        <p:spPr>
          <a:xfrm>
            <a:off x="8046720" y="2011680"/>
            <a:ext cx="3108960" cy="21031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2121408"/>
            <a:ext cx="1371600" cy="36576"/>
          </a:xfrm>
          <a:prstGeom prst="rect">
            <a:avLst/>
          </a:prstGeom>
          <a:gradFill rotWithShape="1">
            <a:gsLst>
              <a:gs pos="0">
                <a:srgbClr val="EC4899"/>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2286000"/>
            <a:ext cx="2560320" cy="457200"/>
          </a:xfrm>
          <a:prstGeom prst="rect">
            <a:avLst/>
          </a:prstGeom>
          <a:noFill/>
        </p:spPr>
        <p:txBody>
          <a:bodyPr wrap="square">
            <a:spAutoFit/>
          </a:bodyPr>
          <a:lstStyle/>
          <a:p>
            <a:pPr algn="l">
              <a:defRPr sz="1800" b="1">
                <a:solidFill>
                  <a:srgbClr val="FFFFFF"/>
                </a:solidFill>
                <a:latin typeface="Segoe UI"/>
              </a:defRPr>
            </a:pPr>
            <a:r>
              <a:t>⚡  GENERATED Mode</a:t>
            </a:r>
          </a:p>
        </p:txBody>
      </p:sp>
      <p:sp>
        <p:nvSpPr>
          <p:cNvPr id="23" name="TextBox 22"/>
          <p:cNvSpPr txBox="1"/>
          <p:nvPr/>
        </p:nvSpPr>
        <p:spPr>
          <a:xfrm>
            <a:off x="8321040" y="2788920"/>
            <a:ext cx="2560320" cy="731520"/>
          </a:xfrm>
          <a:prstGeom prst="rect">
            <a:avLst/>
          </a:prstGeom>
          <a:noFill/>
        </p:spPr>
        <p:txBody>
          <a:bodyPr wrap="square">
            <a:spAutoFit/>
          </a:bodyPr>
          <a:lstStyle/>
          <a:p>
            <a:pPr algn="l">
              <a:defRPr sz="1300" b="0">
                <a:solidFill>
                  <a:srgbClr val="A0A0B8"/>
                </a:solidFill>
                <a:latin typeface="Segoe UI"/>
              </a:defRPr>
            </a:pPr>
            <a:r>
              <a:t>arc-task-gen pipeline</a:t>
            </a:r>
            <a:br/>
            <a:r>
              <a:t>Distribution-matched fresh tasks</a:t>
            </a:r>
          </a:p>
        </p:txBody>
      </p:sp>
      <p:sp>
        <p:nvSpPr>
          <p:cNvPr id="24" name="Rounded Rectangle 23"/>
          <p:cNvSpPr/>
          <p:nvPr/>
        </p:nvSpPr>
        <p:spPr>
          <a:xfrm>
            <a:off x="8321040" y="3566160"/>
            <a:ext cx="2011680" cy="320040"/>
          </a:xfrm>
          <a:prstGeom prst="roundRect">
            <a:avLst/>
          </a:prstGeom>
          <a:solidFill>
            <a:srgbClr val="16162A"/>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0" y="3593592"/>
            <a:ext cx="1645920" cy="274320"/>
          </a:xfrm>
          <a:prstGeom prst="rect">
            <a:avLst/>
          </a:prstGeom>
          <a:noFill/>
        </p:spPr>
        <p:txBody>
          <a:bodyPr wrap="square">
            <a:spAutoFit/>
          </a:bodyPr>
          <a:lstStyle/>
          <a:p>
            <a:pPr algn="ctr">
              <a:defRPr sz="1000" b="1">
                <a:solidFill>
                  <a:srgbClr val="EC4899"/>
                </a:solidFill>
                <a:latin typeface="Segoe UI"/>
              </a:defRPr>
            </a:pPr>
            <a:r>
              <a:t>API required</a:t>
            </a:r>
          </a:p>
        </p:txBody>
      </p:sp>
      <p:sp>
        <p:nvSpPr>
          <p:cNvPr id="26" name="TextBox 25"/>
          <p:cNvSpPr txBox="1"/>
          <p:nvPr/>
        </p:nvSpPr>
        <p:spPr>
          <a:xfrm>
            <a:off x="1097280" y="4480560"/>
            <a:ext cx="4572000" cy="365760"/>
          </a:xfrm>
          <a:prstGeom prst="rect">
            <a:avLst/>
          </a:prstGeom>
          <a:noFill/>
        </p:spPr>
        <p:txBody>
          <a:bodyPr wrap="square">
            <a:spAutoFit/>
          </a:bodyPr>
          <a:lstStyle/>
          <a:p>
            <a:pPr algn="l">
              <a:defRPr sz="1800" b="1">
                <a:solidFill>
                  <a:srgbClr val="FFFFFF"/>
                </a:solidFill>
                <a:latin typeface="Segoe UI"/>
              </a:defRPr>
            </a:pPr>
            <a:r>
              <a:t>📋  Evidence Taxonomy</a:t>
            </a:r>
          </a:p>
        </p:txBody>
      </p:sp>
      <p:sp>
        <p:nvSpPr>
          <p:cNvPr id="27" name="Rounded Rectangle 26"/>
          <p:cNvSpPr/>
          <p:nvPr/>
        </p:nvSpPr>
        <p:spPr>
          <a:xfrm>
            <a:off x="1097280" y="5029200"/>
            <a:ext cx="4754880" cy="64008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7280" y="5029200"/>
            <a:ext cx="54864" cy="640080"/>
          </a:xfrm>
          <a:prstGeom prst="rect">
            <a:avLst/>
          </a:prstGeom>
          <a:gradFill rotWithShape="1">
            <a:gsLst>
              <a:gs pos="0">
                <a:srgbClr val="06B6D4"/>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600" y="5074920"/>
            <a:ext cx="4389120" cy="274320"/>
          </a:xfrm>
          <a:prstGeom prst="rect">
            <a:avLst/>
          </a:prstGeom>
          <a:noFill/>
        </p:spPr>
        <p:txBody>
          <a:bodyPr wrap="square">
            <a:spAutoFit/>
          </a:bodyPr>
          <a:lstStyle/>
          <a:p>
            <a:pPr algn="l">
              <a:defRPr sz="1100" b="1">
                <a:solidFill>
                  <a:srgbClr val="06B6D4"/>
                </a:solidFill>
                <a:latin typeface="Segoe UI"/>
              </a:defRPr>
            </a:pPr>
            <a:r>
              <a:t>PUBLISHED RESULT — PATHWAY</a:t>
            </a:r>
          </a:p>
        </p:txBody>
      </p:sp>
      <p:sp>
        <p:nvSpPr>
          <p:cNvPr id="30" name="TextBox 29"/>
          <p:cNvSpPr txBox="1"/>
          <p:nvPr/>
        </p:nvSpPr>
        <p:spPr>
          <a:xfrm>
            <a:off x="1371600" y="5349240"/>
            <a:ext cx="4389120" cy="274320"/>
          </a:xfrm>
          <a:prstGeom prst="rect">
            <a:avLst/>
          </a:prstGeom>
          <a:noFill/>
        </p:spPr>
        <p:txBody>
          <a:bodyPr wrap="square">
            <a:spAutoFit/>
          </a:bodyPr>
          <a:lstStyle/>
          <a:p>
            <a:pPr algn="l">
              <a:defRPr sz="1000" b="0">
                <a:solidFill>
                  <a:srgbClr val="A0A0B8"/>
                </a:solidFill>
                <a:latin typeface="Segoe UI"/>
              </a:defRPr>
            </a:pPr>
            <a:r>
              <a:t>Cited from literature/repositories</a:t>
            </a:r>
          </a:p>
        </p:txBody>
      </p:sp>
      <p:sp>
        <p:nvSpPr>
          <p:cNvPr id="31" name="Rounded Rectangle 30"/>
          <p:cNvSpPr/>
          <p:nvPr/>
        </p:nvSpPr>
        <p:spPr>
          <a:xfrm>
            <a:off x="6217920" y="5029200"/>
            <a:ext cx="4754880" cy="64008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5029200"/>
            <a:ext cx="54864" cy="640080"/>
          </a:xfrm>
          <a:prstGeom prst="rect">
            <a:avLst/>
          </a:prstGeom>
          <a:gradFill rotWithShape="1">
            <a:gsLst>
              <a:gs pos="0">
                <a:srgbClr val="10B981"/>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5074920"/>
            <a:ext cx="4389120" cy="274320"/>
          </a:xfrm>
          <a:prstGeom prst="rect">
            <a:avLst/>
          </a:prstGeom>
          <a:noFill/>
        </p:spPr>
        <p:txBody>
          <a:bodyPr wrap="square">
            <a:spAutoFit/>
          </a:bodyPr>
          <a:lstStyle/>
          <a:p>
            <a:pPr algn="l">
              <a:defRPr sz="1100" b="1">
                <a:solidFill>
                  <a:srgbClr val="10B981"/>
                </a:solidFill>
                <a:latin typeface="Segoe UI"/>
              </a:defRPr>
            </a:pPr>
            <a:r>
              <a:t>MEASURED FRESH-GENERATION EVIDENCE</a:t>
            </a:r>
          </a:p>
        </p:txBody>
      </p:sp>
      <p:sp>
        <p:nvSpPr>
          <p:cNvPr id="34" name="TextBox 33"/>
          <p:cNvSpPr txBox="1"/>
          <p:nvPr/>
        </p:nvSpPr>
        <p:spPr>
          <a:xfrm>
            <a:off x="6492240" y="5349240"/>
            <a:ext cx="4389120" cy="274320"/>
          </a:xfrm>
          <a:prstGeom prst="rect">
            <a:avLst/>
          </a:prstGeom>
          <a:noFill/>
        </p:spPr>
        <p:txBody>
          <a:bodyPr wrap="square">
            <a:spAutoFit/>
          </a:bodyPr>
          <a:lstStyle/>
          <a:p>
            <a:pPr algn="l">
              <a:defRPr sz="1000" b="0">
                <a:solidFill>
                  <a:srgbClr val="A0A0B8"/>
                </a:solidFill>
                <a:latin typeface="Segoe UI"/>
              </a:defRPr>
            </a:pPr>
            <a:r>
              <a:t>Live upstream arc-task-gen execution</a:t>
            </a:r>
          </a:p>
        </p:txBody>
      </p:sp>
      <p:sp>
        <p:nvSpPr>
          <p:cNvPr id="35" name="Rounded Rectangle 34"/>
          <p:cNvSpPr/>
          <p:nvPr/>
        </p:nvSpPr>
        <p:spPr>
          <a:xfrm>
            <a:off x="1097280" y="5852160"/>
            <a:ext cx="4754880" cy="64008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97280" y="5852160"/>
            <a:ext cx="54864" cy="640080"/>
          </a:xfrm>
          <a:prstGeom prst="rect">
            <a:avLst/>
          </a:prstGeom>
          <a:gradFill rotWithShape="1">
            <a:gsLst>
              <a:gs pos="0">
                <a:srgbClr val="F59E0B"/>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71600" y="5897880"/>
            <a:ext cx="4389120" cy="274320"/>
          </a:xfrm>
          <a:prstGeom prst="rect">
            <a:avLst/>
          </a:prstGeom>
          <a:noFill/>
        </p:spPr>
        <p:txBody>
          <a:bodyPr wrap="square">
            <a:spAutoFit/>
          </a:bodyPr>
          <a:lstStyle/>
          <a:p>
            <a:pPr algn="l">
              <a:defRPr sz="1100" b="1">
                <a:solidFill>
                  <a:srgbClr val="F59E0B"/>
                </a:solidFill>
                <a:latin typeface="Segoe UI"/>
              </a:defRPr>
            </a:pPr>
            <a:r>
              <a:t>FALLBACK / DEMONSTRATION</a:t>
            </a:r>
          </a:p>
        </p:txBody>
      </p:sp>
      <p:sp>
        <p:nvSpPr>
          <p:cNvPr id="38" name="TextBox 37"/>
          <p:cNvSpPr txBox="1"/>
          <p:nvPr/>
        </p:nvSpPr>
        <p:spPr>
          <a:xfrm>
            <a:off x="1371600" y="6172200"/>
            <a:ext cx="4389120" cy="274320"/>
          </a:xfrm>
          <a:prstGeom prst="rect">
            <a:avLst/>
          </a:prstGeom>
          <a:noFill/>
        </p:spPr>
        <p:txBody>
          <a:bodyPr wrap="square">
            <a:spAutoFit/>
          </a:bodyPr>
          <a:lstStyle/>
          <a:p>
            <a:pPr algn="l">
              <a:defRPr sz="1000" b="0">
                <a:solidFill>
                  <a:srgbClr val="A0A0B8"/>
                </a:solidFill>
                <a:latin typeface="Segoe UI"/>
              </a:defRPr>
            </a:pPr>
            <a:r>
              <a:t>Local test-safe tasks (never disguised)</a:t>
            </a:r>
          </a:p>
        </p:txBody>
      </p:sp>
      <p:sp>
        <p:nvSpPr>
          <p:cNvPr id="39" name="Rounded Rectangle 38"/>
          <p:cNvSpPr/>
          <p:nvPr/>
        </p:nvSpPr>
        <p:spPr>
          <a:xfrm>
            <a:off x="6217920" y="5852160"/>
            <a:ext cx="4754880" cy="64008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5852160"/>
            <a:ext cx="54864" cy="640080"/>
          </a:xfrm>
          <a:prstGeom prst="rect">
            <a:avLst/>
          </a:prstGeom>
          <a:gradFill rotWithShape="1">
            <a:gsLst>
              <a:gs pos="0">
                <a:srgbClr val="F97316"/>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92240" y="5897880"/>
            <a:ext cx="4389120" cy="274320"/>
          </a:xfrm>
          <a:prstGeom prst="rect">
            <a:avLst/>
          </a:prstGeom>
          <a:noFill/>
        </p:spPr>
        <p:txBody>
          <a:bodyPr wrap="square">
            <a:spAutoFit/>
          </a:bodyPr>
          <a:lstStyle/>
          <a:p>
            <a:pPr algn="l">
              <a:defRPr sz="1100" b="1">
                <a:solidFill>
                  <a:srgbClr val="F97316"/>
                </a:solidFill>
                <a:latin typeface="Segoe UI"/>
              </a:defRPr>
            </a:pPr>
            <a:r>
              <a:t>TOY / DIDACTIC</a:t>
            </a:r>
          </a:p>
        </p:txBody>
      </p:sp>
      <p:sp>
        <p:nvSpPr>
          <p:cNvPr id="42" name="TextBox 41"/>
          <p:cNvSpPr txBox="1"/>
          <p:nvPr/>
        </p:nvSpPr>
        <p:spPr>
          <a:xfrm>
            <a:off x="6492240" y="6172200"/>
            <a:ext cx="4389120" cy="274320"/>
          </a:xfrm>
          <a:prstGeom prst="rect">
            <a:avLst/>
          </a:prstGeom>
          <a:noFill/>
        </p:spPr>
        <p:txBody>
          <a:bodyPr wrap="square">
            <a:spAutoFit/>
          </a:bodyPr>
          <a:lstStyle/>
          <a:p>
            <a:pPr algn="l">
              <a:defRPr sz="1000" b="0">
                <a:solidFill>
                  <a:srgbClr val="A0A0B8"/>
                </a:solidFill>
                <a:latin typeface="Segoe UI"/>
              </a:defRPr>
            </a:pPr>
            <a:r>
              <a:t>Browser-computed educational recurrence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9601200" y="-1371600"/>
            <a:ext cx="3657600" cy="3657600"/>
          </a:xfrm>
          <a:prstGeom prst="ellipse">
            <a:avLst/>
          </a:prstGeom>
          <a:solidFill>
            <a:srgbClr val="7C3A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5029200"/>
            <a:ext cx="3200400" cy="32004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45720"/>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828800" cy="1371600"/>
          </a:xfrm>
          <a:prstGeom prst="rect">
            <a:avLst/>
          </a:prstGeom>
          <a:noFill/>
        </p:spPr>
        <p:txBody>
          <a:bodyPr wrap="square">
            <a:spAutoFit/>
          </a:bodyPr>
          <a:lstStyle/>
          <a:p>
            <a:pPr algn="l">
              <a:defRPr sz="7200" b="1">
                <a:solidFill>
                  <a:srgbClr val="7C3AED"/>
                </a:solidFill>
                <a:latin typeface="Segoe UI"/>
              </a:defRPr>
            </a:pPr>
            <a:r>
              <a:t>06</a:t>
            </a:r>
          </a:p>
        </p:txBody>
      </p:sp>
      <p:sp>
        <p:nvSpPr>
          <p:cNvPr id="6" name="TextBox 5"/>
          <p:cNvSpPr txBox="1"/>
          <p:nvPr/>
        </p:nvSpPr>
        <p:spPr>
          <a:xfrm>
            <a:off x="1097280" y="548640"/>
            <a:ext cx="4572000" cy="457200"/>
          </a:xfrm>
          <a:prstGeom prst="rect">
            <a:avLst/>
          </a:prstGeom>
          <a:noFill/>
        </p:spPr>
        <p:txBody>
          <a:bodyPr wrap="square">
            <a:spAutoFit/>
          </a:bodyPr>
          <a:lstStyle/>
          <a:p>
            <a:pPr algn="l">
              <a:defRPr sz="1300" b="1">
                <a:solidFill>
                  <a:srgbClr val="06B6D4"/>
                </a:solidFill>
                <a:latin typeface="Segoe UI"/>
              </a:defRPr>
            </a:pPr>
            <a:r>
              <a:t>LIMITATIONS &amp; FUTURE WORK</a:t>
            </a:r>
          </a:p>
        </p:txBody>
      </p:sp>
      <p:sp>
        <p:nvSpPr>
          <p:cNvPr id="7" name="TextBox 6"/>
          <p:cNvSpPr txBox="1"/>
          <p:nvPr/>
        </p:nvSpPr>
        <p:spPr>
          <a:xfrm>
            <a:off x="1097280" y="1005840"/>
            <a:ext cx="9144000" cy="731520"/>
          </a:xfrm>
          <a:prstGeom prst="rect">
            <a:avLst/>
          </a:prstGeom>
          <a:noFill/>
        </p:spPr>
        <p:txBody>
          <a:bodyPr wrap="square">
            <a:spAutoFit/>
          </a:bodyPr>
          <a:lstStyle/>
          <a:p>
            <a:pPr algn="l">
              <a:defRPr sz="3600" b="1">
                <a:solidFill>
                  <a:srgbClr val="FFFFFF"/>
                </a:solidFill>
                <a:latin typeface="Segoe UI"/>
              </a:defRPr>
            </a:pPr>
            <a:r>
              <a:t>Known Limitations &amp; Path Forward</a:t>
            </a:r>
          </a:p>
        </p:txBody>
      </p:sp>
      <p:sp>
        <p:nvSpPr>
          <p:cNvPr id="8" name="Rounded Rectangle 7"/>
          <p:cNvSpPr/>
          <p:nvPr/>
        </p:nvSpPr>
        <p:spPr>
          <a:xfrm>
            <a:off x="914400" y="2011680"/>
            <a:ext cx="5029200" cy="43891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2011680"/>
            <a:ext cx="5029200" cy="45720"/>
          </a:xfrm>
          <a:prstGeom prst="rect">
            <a:avLst/>
          </a:prstGeom>
          <a:gradFill rotWithShape="1">
            <a:gsLst>
              <a:gs pos="0">
                <a:srgbClr val="EC4899"/>
              </a:gs>
              <a:gs pos="100000">
                <a:srgbClr val="7C3AED"/>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240280"/>
            <a:ext cx="4114800" cy="457200"/>
          </a:xfrm>
          <a:prstGeom prst="rect">
            <a:avLst/>
          </a:prstGeom>
          <a:noFill/>
        </p:spPr>
        <p:txBody>
          <a:bodyPr wrap="square">
            <a:spAutoFit/>
          </a:bodyPr>
          <a:lstStyle/>
          <a:p>
            <a:pPr algn="l">
              <a:defRPr sz="2000" b="1">
                <a:solidFill>
                  <a:srgbClr val="EC4899"/>
                </a:solidFill>
                <a:latin typeface="Segoe UI"/>
              </a:defRPr>
            </a:pPr>
            <a:r>
              <a:t>⚠️  Known Limitations</a:t>
            </a:r>
          </a:p>
        </p:txBody>
      </p:sp>
      <p:sp>
        <p:nvSpPr>
          <p:cNvPr id="11" name="TextBox 10"/>
          <p:cNvSpPr txBox="1"/>
          <p:nvPr/>
        </p:nvSpPr>
        <p:spPr>
          <a:xfrm>
            <a:off x="1280160" y="2834640"/>
            <a:ext cx="4389120" cy="3200400"/>
          </a:xfrm>
          <a:prstGeom prst="rect">
            <a:avLst/>
          </a:prstGeom>
          <a:noFill/>
        </p:spPr>
        <p:txBody>
          <a:bodyPr wrap="square">
            <a:spAutoFit/>
          </a:bodyPr>
          <a:lstStyle/>
          <a:p>
            <a:pPr>
              <a:spcAft>
                <a:spcPts val="800"/>
              </a:spcAft>
            </a:pPr>
            <a:r>
              <a:rPr sz="1300" b="1">
                <a:solidFill>
                  <a:srgbClr val="EC4899"/>
                </a:solidFill>
                <a:latin typeface="Segoe UI"/>
              </a:rPr>
              <a:t>▸ </a:t>
            </a:r>
            <a:r>
              <a:rPr sz="1300">
                <a:solidFill>
                  <a:srgbClr val="A0A0B8"/>
                </a:solidFill>
                <a:latin typeface="Segoe UI"/>
              </a:rPr>
              <a:t>Generated task solvability is NOT programmatically guaranteed</a:t>
            </a:r>
          </a:p>
          <a:p>
            <a:pPr>
              <a:spcAft>
                <a:spcPts val="800"/>
              </a:spcAft>
            </a:pPr>
            <a:r>
              <a:rPr sz="1300" b="1">
                <a:solidFill>
                  <a:srgbClr val="EC4899"/>
                </a:solidFill>
                <a:latin typeface="Segoe UI"/>
              </a:rPr>
              <a:t>▸ </a:t>
            </a:r>
            <a:r>
              <a:rPr sz="1300">
                <a:solidFill>
                  <a:srgbClr val="A0A0B8"/>
                </a:solidFill>
                <a:latin typeface="Segoe UI"/>
              </a:rPr>
              <a:t>Distribution matching covers measurable properties only (grid size, color count, pair counts)</a:t>
            </a:r>
          </a:p>
          <a:p>
            <a:pPr>
              <a:spcAft>
                <a:spcPts val="800"/>
              </a:spcAft>
            </a:pPr>
            <a:r>
              <a:rPr sz="1300" b="1">
                <a:solidFill>
                  <a:srgbClr val="EC4899"/>
                </a:solidFill>
                <a:latin typeface="Segoe UI"/>
              </a:rPr>
              <a:t>▸ </a:t>
            </a:r>
            <a:r>
              <a:rPr sz="1300">
                <a:solidFill>
                  <a:srgbClr val="A0A0B8"/>
                </a:solidFill>
                <a:latin typeface="Segoe UI"/>
              </a:rPr>
              <a:t>Generator artifacts may introduce systematic biases into fresh tasks</a:t>
            </a:r>
          </a:p>
          <a:p>
            <a:pPr>
              <a:spcAft>
                <a:spcPts val="800"/>
              </a:spcAft>
            </a:pPr>
            <a:r>
              <a:rPr sz="1300" b="1">
                <a:solidFill>
                  <a:srgbClr val="EC4899"/>
                </a:solidFill>
                <a:latin typeface="Segoe UI"/>
              </a:rPr>
              <a:t>▸ </a:t>
            </a:r>
            <a:r>
              <a:rPr sz="1300">
                <a:solidFill>
                  <a:srgbClr val="A0A0B8"/>
                </a:solidFill>
                <a:latin typeface="Segoe UI"/>
              </a:rPr>
              <a:t>Small sample sizes (N &lt; 50) yield exploratory signals, not definitive conclusions</a:t>
            </a:r>
          </a:p>
          <a:p>
            <a:pPr>
              <a:spcAft>
                <a:spcPts val="800"/>
              </a:spcAft>
            </a:pPr>
            <a:r>
              <a:rPr sz="1300" b="1">
                <a:solidFill>
                  <a:srgbClr val="EC4899"/>
                </a:solidFill>
                <a:latin typeface="Segoe UI"/>
              </a:rPr>
              <a:t>▸ </a:t>
            </a:r>
            <a:r>
              <a:rPr sz="1300">
                <a:solidFill>
                  <a:srgbClr val="A0A0B8"/>
                </a:solidFill>
                <a:latin typeface="Segoe UI"/>
              </a:rPr>
              <a:t>Performance gap has multiple possible causes — memorization is only one possibility</a:t>
            </a:r>
          </a:p>
          <a:p>
            <a:pPr>
              <a:spcAft>
                <a:spcPts val="800"/>
              </a:spcAft>
            </a:pPr>
            <a:r>
              <a:rPr sz="1300" b="1">
                <a:solidFill>
                  <a:srgbClr val="EC4899"/>
                </a:solidFill>
                <a:latin typeface="Segoe UI"/>
              </a:rPr>
              <a:t>▸ </a:t>
            </a:r>
            <a:r>
              <a:rPr sz="1300">
                <a:solidFill>
                  <a:srgbClr val="A0A0B8"/>
                </a:solidFill>
                <a:latin typeface="Segoe UI"/>
              </a:rPr>
              <a:t>Fresh tasks are never claimed as 'guaranteed unseen'</a:t>
            </a:r>
          </a:p>
        </p:txBody>
      </p:sp>
      <p:sp>
        <p:nvSpPr>
          <p:cNvPr id="12" name="Rounded Rectangle 11"/>
          <p:cNvSpPr/>
          <p:nvPr/>
        </p:nvSpPr>
        <p:spPr>
          <a:xfrm>
            <a:off x="6400800" y="2011680"/>
            <a:ext cx="5029200" cy="438912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2011680"/>
            <a:ext cx="5029200" cy="45720"/>
          </a:xfrm>
          <a:prstGeom prst="rect">
            <a:avLst/>
          </a:prstGeom>
          <a:gradFill rotWithShape="1">
            <a:gsLst>
              <a:gs pos="0">
                <a:srgbClr val="10B981"/>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2240280"/>
            <a:ext cx="4114800" cy="457200"/>
          </a:xfrm>
          <a:prstGeom prst="rect">
            <a:avLst/>
          </a:prstGeom>
          <a:noFill/>
        </p:spPr>
        <p:txBody>
          <a:bodyPr wrap="square">
            <a:spAutoFit/>
          </a:bodyPr>
          <a:lstStyle/>
          <a:p>
            <a:pPr algn="l">
              <a:defRPr sz="2000" b="1">
                <a:solidFill>
                  <a:srgbClr val="10B981"/>
                </a:solidFill>
                <a:latin typeface="Segoe UI"/>
              </a:defRPr>
            </a:pPr>
            <a:r>
              <a:t>🚀  Future Directions</a:t>
            </a:r>
          </a:p>
        </p:txBody>
      </p:sp>
      <p:sp>
        <p:nvSpPr>
          <p:cNvPr id="15" name="TextBox 14"/>
          <p:cNvSpPr txBox="1"/>
          <p:nvPr/>
        </p:nvSpPr>
        <p:spPr>
          <a:xfrm>
            <a:off x="6766560" y="2834640"/>
            <a:ext cx="4389120" cy="3200400"/>
          </a:xfrm>
          <a:prstGeom prst="rect">
            <a:avLst/>
          </a:prstGeom>
          <a:noFill/>
        </p:spPr>
        <p:txBody>
          <a:bodyPr wrap="square">
            <a:spAutoFit/>
          </a:bodyPr>
          <a:lstStyle/>
          <a:p>
            <a:pPr>
              <a:spcAft>
                <a:spcPts val="800"/>
              </a:spcAft>
            </a:pPr>
            <a:r>
              <a:rPr sz="1300" b="1">
                <a:solidFill>
                  <a:srgbClr val="10B981"/>
                </a:solidFill>
                <a:latin typeface="Segoe UI"/>
              </a:rPr>
              <a:t>▸ </a:t>
            </a:r>
            <a:r>
              <a:rPr sz="1300">
                <a:solidFill>
                  <a:srgbClr val="A0A0B8"/>
                </a:solidFill>
                <a:latin typeface="Segoe UI"/>
              </a:rPr>
              <a:t>Expand sample sizes for statistical significance</a:t>
            </a:r>
          </a:p>
          <a:p>
            <a:pPr>
              <a:spcAft>
                <a:spcPts val="800"/>
              </a:spcAft>
            </a:pPr>
            <a:r>
              <a:rPr sz="1300" b="1">
                <a:solidFill>
                  <a:srgbClr val="10B981"/>
                </a:solidFill>
                <a:latin typeface="Segoe UI"/>
              </a:rPr>
              <a:t>▸ </a:t>
            </a:r>
            <a:r>
              <a:rPr sz="1300">
                <a:solidFill>
                  <a:srgbClr val="A0A0B8"/>
                </a:solidFill>
                <a:latin typeface="Segoe UI"/>
              </a:rPr>
              <a:t>Add programmatic solvability verification</a:t>
            </a:r>
          </a:p>
          <a:p>
            <a:pPr>
              <a:spcAft>
                <a:spcPts val="800"/>
              </a:spcAft>
            </a:pPr>
            <a:r>
              <a:rPr sz="1300" b="1">
                <a:solidFill>
                  <a:srgbClr val="10B981"/>
                </a:solidFill>
                <a:latin typeface="Segoe UI"/>
              </a:rPr>
              <a:t>▸ </a:t>
            </a:r>
            <a:r>
              <a:rPr sz="1300">
                <a:solidFill>
                  <a:srgbClr val="A0A0B8"/>
                </a:solidFill>
                <a:latin typeface="Segoe UI"/>
              </a:rPr>
              <a:t>Include human baseline comparisons</a:t>
            </a:r>
          </a:p>
          <a:p>
            <a:pPr>
              <a:spcAft>
                <a:spcPts val="800"/>
              </a:spcAft>
            </a:pPr>
            <a:r>
              <a:rPr sz="1300" b="1">
                <a:solidFill>
                  <a:srgbClr val="10B981"/>
                </a:solidFill>
                <a:latin typeface="Segoe UI"/>
              </a:rPr>
              <a:t>▸ </a:t>
            </a:r>
            <a:r>
              <a:rPr sz="1300">
                <a:solidFill>
                  <a:srgbClr val="A0A0B8"/>
                </a:solidFill>
                <a:latin typeface="Segoe UI"/>
              </a:rPr>
              <a:t>Test with multiple LLM solvers for broader coverage</a:t>
            </a:r>
          </a:p>
          <a:p>
            <a:pPr>
              <a:spcAft>
                <a:spcPts val="800"/>
              </a:spcAft>
            </a:pPr>
            <a:r>
              <a:rPr sz="1300" b="1">
                <a:solidFill>
                  <a:srgbClr val="10B981"/>
                </a:solidFill>
                <a:latin typeface="Segoe UI"/>
              </a:rPr>
              <a:t>▸ </a:t>
            </a:r>
            <a:r>
              <a:rPr sz="1300">
                <a:solidFill>
                  <a:srgbClr val="A0A0B8"/>
                </a:solidFill>
                <a:latin typeface="Segoe UI"/>
              </a:rPr>
              <a:t>Extend distribution matching to capture semantic properties</a:t>
            </a:r>
          </a:p>
          <a:p>
            <a:pPr>
              <a:spcAft>
                <a:spcPts val="800"/>
              </a:spcAft>
            </a:pPr>
            <a:r>
              <a:rPr sz="1300" b="1">
                <a:solidFill>
                  <a:srgbClr val="10B981"/>
                </a:solidFill>
                <a:latin typeface="Segoe UI"/>
              </a:rPr>
              <a:t>▸ </a:t>
            </a:r>
            <a:r>
              <a:rPr sz="1300">
                <a:solidFill>
                  <a:srgbClr val="A0A0B8"/>
                </a:solidFill>
                <a:latin typeface="Segoe UI"/>
              </a:rPr>
              <a:t>Community contributions via open-source framework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3657600" y="457200"/>
            <a:ext cx="4572000" cy="4572000"/>
          </a:xfrm>
          <a:prstGeom prst="ellipse">
            <a:avLst/>
          </a:prstGeom>
          <a:solidFill>
            <a:srgbClr val="7C3A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2743200"/>
            <a:ext cx="3657600" cy="3657600"/>
          </a:xfrm>
          <a:prstGeom prst="ellipse">
            <a:avLst/>
          </a:prstGeom>
          <a:solidFill>
            <a:srgbClr val="06B6D4">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0" y="3657600"/>
            <a:ext cx="3200400" cy="3200400"/>
          </a:xfrm>
          <a:prstGeom prst="ellipse">
            <a:avLst/>
          </a:prstGeom>
          <a:solidFill>
            <a:srgbClr val="EC4899">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828800"/>
            <a:ext cx="9144000" cy="914400"/>
          </a:xfrm>
          <a:prstGeom prst="rect">
            <a:avLst/>
          </a:prstGeom>
          <a:noFill/>
        </p:spPr>
        <p:txBody>
          <a:bodyPr wrap="square">
            <a:spAutoFit/>
          </a:bodyPr>
          <a:lstStyle/>
          <a:p>
            <a:pPr algn="ctr">
              <a:defRPr sz="5200" b="1">
                <a:solidFill>
                  <a:srgbClr val="FFFFFF"/>
                </a:solidFill>
                <a:latin typeface="Segoe UI"/>
              </a:defRPr>
            </a:pPr>
            <a:r>
              <a:t>Thank You</a:t>
            </a:r>
          </a:p>
        </p:txBody>
      </p:sp>
      <p:sp>
        <p:nvSpPr>
          <p:cNvPr id="7" name="TextBox 6"/>
          <p:cNvSpPr txBox="1"/>
          <p:nvPr/>
        </p:nvSpPr>
        <p:spPr>
          <a:xfrm>
            <a:off x="1828800" y="2926080"/>
            <a:ext cx="8229600" cy="548640"/>
          </a:xfrm>
          <a:prstGeom prst="rect">
            <a:avLst/>
          </a:prstGeom>
          <a:noFill/>
        </p:spPr>
        <p:txBody>
          <a:bodyPr wrap="square">
            <a:spAutoFit/>
          </a:bodyPr>
          <a:lstStyle/>
          <a:p>
            <a:pPr algn="ctr">
              <a:defRPr sz="2000" b="0">
                <a:solidFill>
                  <a:srgbClr val="A0A0B8"/>
                </a:solidFill>
                <a:latin typeface="Segoe UI"/>
              </a:defRPr>
            </a:pPr>
            <a:r>
              <a:t>ARC Generalization Lab — Investigating benchmark generalization integrity</a:t>
            </a:r>
          </a:p>
        </p:txBody>
      </p:sp>
      <p:sp>
        <p:nvSpPr>
          <p:cNvPr id="8" name="Rectangle 7"/>
          <p:cNvSpPr/>
          <p:nvPr/>
        </p:nvSpPr>
        <p:spPr>
          <a:xfrm>
            <a:off x="4572000" y="3657600"/>
            <a:ext cx="3017520" cy="36576"/>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28800" y="4114800"/>
            <a:ext cx="2560320" cy="109728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4206240"/>
            <a:ext cx="2011680" cy="365760"/>
          </a:xfrm>
          <a:prstGeom prst="rect">
            <a:avLst/>
          </a:prstGeom>
          <a:noFill/>
        </p:spPr>
        <p:txBody>
          <a:bodyPr wrap="square">
            <a:spAutoFit/>
          </a:bodyPr>
          <a:lstStyle/>
          <a:p>
            <a:pPr algn="ctr">
              <a:defRPr sz="1500" b="1">
                <a:solidFill>
                  <a:srgbClr val="FFFFFF"/>
                </a:solidFill>
                <a:latin typeface="Segoe UI"/>
              </a:defRPr>
            </a:pPr>
            <a:r>
              <a:t>🌐  Live Demo</a:t>
            </a:r>
          </a:p>
        </p:txBody>
      </p:sp>
      <p:sp>
        <p:nvSpPr>
          <p:cNvPr id="11" name="TextBox 10"/>
          <p:cNvSpPr txBox="1"/>
          <p:nvPr/>
        </p:nvSpPr>
        <p:spPr>
          <a:xfrm>
            <a:off x="2103120" y="4617720"/>
            <a:ext cx="2011680" cy="457200"/>
          </a:xfrm>
          <a:prstGeom prst="rect">
            <a:avLst/>
          </a:prstGeom>
          <a:noFill/>
        </p:spPr>
        <p:txBody>
          <a:bodyPr wrap="square">
            <a:spAutoFit/>
          </a:bodyPr>
          <a:lstStyle/>
          <a:p>
            <a:pPr algn="ctr">
              <a:defRPr sz="1100" b="0">
                <a:solidFill>
                  <a:srgbClr val="06B6D4"/>
                </a:solidFill>
                <a:latin typeface="Segoe UI"/>
              </a:defRPr>
            </a:pPr>
            <a:r>
              <a:t>famous-sable-446bd6.netlify.app</a:t>
            </a:r>
          </a:p>
        </p:txBody>
      </p:sp>
      <p:sp>
        <p:nvSpPr>
          <p:cNvPr id="12" name="Rounded Rectangle 11"/>
          <p:cNvSpPr/>
          <p:nvPr/>
        </p:nvSpPr>
        <p:spPr>
          <a:xfrm>
            <a:off x="4846320" y="4114800"/>
            <a:ext cx="2560320" cy="109728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4206240"/>
            <a:ext cx="2011680" cy="365760"/>
          </a:xfrm>
          <a:prstGeom prst="rect">
            <a:avLst/>
          </a:prstGeom>
          <a:noFill/>
        </p:spPr>
        <p:txBody>
          <a:bodyPr wrap="square">
            <a:spAutoFit/>
          </a:bodyPr>
          <a:lstStyle/>
          <a:p>
            <a:pPr algn="ctr">
              <a:defRPr sz="1500" b="1">
                <a:solidFill>
                  <a:srgbClr val="FFFFFF"/>
                </a:solidFill>
                <a:latin typeface="Segoe UI"/>
              </a:defRPr>
            </a:pPr>
            <a:r>
              <a:t>📦  Source Code</a:t>
            </a:r>
          </a:p>
        </p:txBody>
      </p:sp>
      <p:sp>
        <p:nvSpPr>
          <p:cNvPr id="14" name="TextBox 13"/>
          <p:cNvSpPr txBox="1"/>
          <p:nvPr/>
        </p:nvSpPr>
        <p:spPr>
          <a:xfrm>
            <a:off x="5120640" y="4617720"/>
            <a:ext cx="2011680" cy="457200"/>
          </a:xfrm>
          <a:prstGeom prst="rect">
            <a:avLst/>
          </a:prstGeom>
          <a:noFill/>
        </p:spPr>
        <p:txBody>
          <a:bodyPr wrap="square">
            <a:spAutoFit/>
          </a:bodyPr>
          <a:lstStyle/>
          <a:p>
            <a:pPr algn="ctr">
              <a:defRPr sz="1100" b="0">
                <a:solidFill>
                  <a:srgbClr val="06B6D4"/>
                </a:solidFill>
                <a:latin typeface="Segoe UI"/>
              </a:defRPr>
            </a:pPr>
            <a:r>
              <a:t>github.com/Astha167/ARC_Generalization_Lab</a:t>
            </a:r>
          </a:p>
        </p:txBody>
      </p:sp>
      <p:sp>
        <p:nvSpPr>
          <p:cNvPr id="15" name="Rounded Rectangle 14"/>
          <p:cNvSpPr/>
          <p:nvPr/>
        </p:nvSpPr>
        <p:spPr>
          <a:xfrm>
            <a:off x="7863840" y="4114800"/>
            <a:ext cx="2560320" cy="1097280"/>
          </a:xfrm>
          <a:prstGeom prst="roundRect">
            <a:avLst/>
          </a:prstGeom>
          <a:solidFill>
            <a:srgbClr val="1A1A2E"/>
          </a:solidFill>
          <a:ln w="12700">
            <a:solidFill>
              <a:srgbClr val="2A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206240"/>
            <a:ext cx="2011680" cy="365760"/>
          </a:xfrm>
          <a:prstGeom prst="rect">
            <a:avLst/>
          </a:prstGeom>
          <a:noFill/>
        </p:spPr>
        <p:txBody>
          <a:bodyPr wrap="square">
            <a:spAutoFit/>
          </a:bodyPr>
          <a:lstStyle/>
          <a:p>
            <a:pPr algn="ctr">
              <a:defRPr sz="1500" b="1">
                <a:solidFill>
                  <a:srgbClr val="FFFFFF"/>
                </a:solidFill>
                <a:latin typeface="Segoe UI"/>
              </a:defRPr>
            </a:pPr>
            <a:r>
              <a:t>📄  License</a:t>
            </a:r>
          </a:p>
        </p:txBody>
      </p:sp>
      <p:sp>
        <p:nvSpPr>
          <p:cNvPr id="17" name="TextBox 16"/>
          <p:cNvSpPr txBox="1"/>
          <p:nvPr/>
        </p:nvSpPr>
        <p:spPr>
          <a:xfrm>
            <a:off x="8138160" y="4617720"/>
            <a:ext cx="2011680" cy="457200"/>
          </a:xfrm>
          <a:prstGeom prst="rect">
            <a:avLst/>
          </a:prstGeom>
          <a:noFill/>
        </p:spPr>
        <p:txBody>
          <a:bodyPr wrap="square">
            <a:spAutoFit/>
          </a:bodyPr>
          <a:lstStyle/>
          <a:p>
            <a:pPr algn="ctr">
              <a:defRPr sz="1100" b="0">
                <a:solidFill>
                  <a:srgbClr val="06B6D4"/>
                </a:solidFill>
                <a:latin typeface="Segoe UI"/>
              </a:defRPr>
            </a:pPr>
            <a:r>
              <a:t>MIT — Fully Open Source</a:t>
            </a:r>
          </a:p>
        </p:txBody>
      </p:sp>
      <p:sp>
        <p:nvSpPr>
          <p:cNvPr id="18" name="Rectangle 17"/>
          <p:cNvSpPr/>
          <p:nvPr/>
        </p:nvSpPr>
        <p:spPr>
          <a:xfrm>
            <a:off x="0" y="6675120"/>
            <a:ext cx="12191695" cy="54864"/>
          </a:xfrm>
          <a:prstGeom prst="rect">
            <a:avLst/>
          </a:prstGeom>
          <a:gradFill rotWithShape="1">
            <a:gsLst>
              <a:gs pos="0">
                <a:srgbClr val="7C3AED"/>
              </a:gs>
              <a:gs pos="100000">
                <a:srgbClr val="06B6D4"/>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